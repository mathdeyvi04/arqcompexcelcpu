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TT Norms Ultra-Bold" charset="1" panose="02000503040000020004"/>
      <p:regular r:id="rId38"/>
    </p:embeddedFont>
    <p:embeddedFont>
      <p:font typeface="TT Norms" charset="1" panose="02000503030000020003"/>
      <p:regular r:id="rId39"/>
    </p:embeddedFont>
    <p:embeddedFont>
      <p:font typeface="TT Norms Bold" charset="1" panose="020008030300000200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4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6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9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0.png" Type="http://schemas.openxmlformats.org/officeDocument/2006/relationships/image"/><Relationship Id="rId6" Target="../media/image41.jpeg" Type="http://schemas.openxmlformats.org/officeDocument/2006/relationships/image"/><Relationship Id="rId7" Target="../media/image42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9013900">
            <a:off x="15042323" y="-176136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417436">
            <a:off x="-2873183" y="720688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0357" y="3578011"/>
            <a:ext cx="14347287" cy="210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27"/>
              </a:lnSpc>
            </a:pPr>
            <a:r>
              <a:rPr lang="en-US" b="true" sz="12305">
                <a:solidFill>
                  <a:srgbClr val="FFFFFF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COMPUTADORES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79353" y="2438186"/>
            <a:ext cx="712929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Arquitetura de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9926" y="9582206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910228" y="2462954"/>
            <a:ext cx="8349072" cy="6261804"/>
            <a:chOff x="0" y="0"/>
            <a:chExt cx="8128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0" t="-4589" r="0" b="-458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3803" y="4734339"/>
            <a:ext cx="8800197" cy="131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Fundamental para o aprimoramento dos cálculos humanos por permitir a manipulação de números através de um sistema visual e tátil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36129" y="282133"/>
            <a:ext cx="3366405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RAÍZES DO CÁLCULO: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2534" y="251272"/>
            <a:ext cx="1049337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Ábaco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629646" y="2790030"/>
            <a:ext cx="7629654" cy="5246370"/>
            <a:chOff x="0" y="0"/>
            <a:chExt cx="6159500" cy="4235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5"/>
              <a:stretch>
                <a:fillRect l="-550" t="0" r="-55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3803" y="4292096"/>
            <a:ext cx="8800197" cy="21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Crucial porque transformou multiplicações e divisões complexas em somas e subtrações mais simples, permitindo, em réguas de cálculo, cálculos feitos alinhando escalas logarítmicas para somar distâncias e assim obter produtos ou quocientes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65310" y="284794"/>
            <a:ext cx="1689317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Logaritmos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98905" y="284794"/>
            <a:ext cx="3366405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RAÍZES DO CÁLCULO: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099525" y="1389129"/>
            <a:ext cx="4714113" cy="4605001"/>
            <a:chOff x="0" y="0"/>
            <a:chExt cx="4828540" cy="47167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03" y="1273"/>
              <a:ext cx="4830645" cy="4716345"/>
            </a:xfrm>
            <a:custGeom>
              <a:avLst/>
              <a:gdLst/>
              <a:ahLst/>
              <a:cxnLst/>
              <a:rect r="r" b="b" t="t" l="l"/>
              <a:pathLst>
                <a:path h="4716345" w="48306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7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7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7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7" y="4272277"/>
                    <a:pt x="4534067" y="4326887"/>
                    <a:pt x="4490887" y="4373877"/>
                  </a:cubicBezTo>
                  <a:cubicBezTo>
                    <a:pt x="4452787" y="4415787"/>
                    <a:pt x="4410877" y="4457697"/>
                    <a:pt x="4344837" y="4458967"/>
                  </a:cubicBezTo>
                  <a:cubicBezTo>
                    <a:pt x="4329597" y="4458967"/>
                    <a:pt x="4315627" y="4474207"/>
                    <a:pt x="4300387" y="4481827"/>
                  </a:cubicBezTo>
                  <a:cubicBezTo>
                    <a:pt x="4235617" y="4509767"/>
                    <a:pt x="4168307" y="4533897"/>
                    <a:pt x="4104807" y="4564377"/>
                  </a:cubicBezTo>
                  <a:cubicBezTo>
                    <a:pt x="3987967" y="4620257"/>
                    <a:pt x="3862237" y="4629147"/>
                    <a:pt x="3736507" y="4634227"/>
                  </a:cubicBezTo>
                  <a:cubicBezTo>
                    <a:pt x="3688247" y="4636767"/>
                    <a:pt x="3638717" y="4632957"/>
                    <a:pt x="3590457" y="4636767"/>
                  </a:cubicBezTo>
                  <a:cubicBezTo>
                    <a:pt x="3566327" y="4638037"/>
                    <a:pt x="3543467" y="4649467"/>
                    <a:pt x="3520607" y="4654547"/>
                  </a:cubicBezTo>
                  <a:cubicBezTo>
                    <a:pt x="3510447" y="4657087"/>
                    <a:pt x="3500287" y="4655817"/>
                    <a:pt x="3488857" y="4657087"/>
                  </a:cubicBezTo>
                  <a:cubicBezTo>
                    <a:pt x="3473617" y="4658357"/>
                    <a:pt x="3458377" y="4662167"/>
                    <a:pt x="3443137" y="4660897"/>
                  </a:cubicBezTo>
                  <a:cubicBezTo>
                    <a:pt x="3427897" y="4658357"/>
                    <a:pt x="3417737" y="4653277"/>
                    <a:pt x="3415197" y="4653277"/>
                  </a:cubicBezTo>
                  <a:close/>
                </a:path>
              </a:pathLst>
            </a:custGeom>
            <a:blipFill>
              <a:blip r:embed="rId5"/>
              <a:stretch>
                <a:fillRect l="-10099" t="0" r="-1009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60449">
            <a:off x="12667605" y="4459252"/>
            <a:ext cx="5246370" cy="5246370"/>
            <a:chOff x="0" y="0"/>
            <a:chExt cx="3282950" cy="3282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82950" cy="3282950"/>
            </a:xfrm>
            <a:custGeom>
              <a:avLst/>
              <a:gdLst/>
              <a:ahLst/>
              <a:cxnLst/>
              <a:rect r="r" b="b" t="t" l="l"/>
              <a:pathLst>
                <a:path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3803" y="4685746"/>
            <a:ext cx="8800197" cy="867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Pascalina e a Roda de Leibniz foram fundamentais por inaugurarem a automação de cálculos matemáticos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1682" y="342383"/>
            <a:ext cx="3366405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RAÍZES DO CÁLCULO: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28087" y="311522"/>
            <a:ext cx="3585551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Calculadoras Mecânicas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598711"/>
            <a:ext cx="8155121" cy="5433350"/>
          </a:xfrm>
          <a:custGeom>
            <a:avLst/>
            <a:gdLst/>
            <a:ahLst/>
            <a:cxnLst/>
            <a:rect r="r" b="b" t="t" l="l"/>
            <a:pathLst>
              <a:path h="5433350" w="8155121">
                <a:moveTo>
                  <a:pt x="0" y="0"/>
                </a:moveTo>
                <a:lnTo>
                  <a:pt x="8155121" y="0"/>
                </a:lnTo>
                <a:lnTo>
                  <a:pt x="8155121" y="5433349"/>
                </a:lnTo>
                <a:lnTo>
                  <a:pt x="0" y="5433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317" y="4636510"/>
            <a:ext cx="7923189" cy="131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 Tear de Jacquard marcou o início da programação ao utilizar cartões perfurados para controlar automaticamente padrões de tecelagem.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2141" y="311522"/>
            <a:ext cx="6115946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MECÂNICA E A VISÃO ANALÍTICA: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28087" y="280661"/>
            <a:ext cx="259002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Tear de Jacquard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940307" y="1723760"/>
            <a:ext cx="11347693" cy="7753529"/>
            <a:chOff x="0" y="0"/>
            <a:chExt cx="15130257" cy="1033803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3342879"/>
              <a:ext cx="9326880" cy="6995160"/>
              <a:chOff x="0" y="0"/>
              <a:chExt cx="812800" cy="6096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12800">
                    <a:moveTo>
                      <a:pt x="609600" y="0"/>
                    </a:moveTo>
                    <a:lnTo>
                      <a:pt x="0" y="0"/>
                    </a:lnTo>
                    <a:lnTo>
                      <a:pt x="203200" y="609600"/>
                    </a:lnTo>
                    <a:lnTo>
                      <a:pt x="812800" y="609600"/>
                    </a:lnTo>
                    <a:lnTo>
                      <a:pt x="60960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933" t="0" r="-933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5803377" y="0"/>
              <a:ext cx="9326880" cy="6995160"/>
              <a:chOff x="0" y="0"/>
              <a:chExt cx="812800" cy="609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812800">
                    <a:moveTo>
                      <a:pt x="609600" y="0"/>
                    </a:moveTo>
                    <a:lnTo>
                      <a:pt x="0" y="0"/>
                    </a:lnTo>
                    <a:lnTo>
                      <a:pt x="203200" y="609600"/>
                    </a:lnTo>
                    <a:lnTo>
                      <a:pt x="812800" y="609600"/>
                    </a:lnTo>
                    <a:lnTo>
                      <a:pt x="60960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14046" r="0" b="-14046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367506" y="5252786"/>
            <a:ext cx="6263983" cy="175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Máquina de Diferenças e a Máquina Analítica, introduziram o conceito de computação programável, antecipando a estrutura dos computadores modernos.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2141" y="311522"/>
            <a:ext cx="6115946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MECÂNICA E A VISÃO ANALÍTICA: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28087" y="280661"/>
            <a:ext cx="259002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Charles Babbage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01025" y="2964439"/>
            <a:ext cx="4213556" cy="464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Revolucionou o processamento de dados ao usar cartões perfurados no Censo dos Estados Unidos de 1890, dando origem a tecnologias que mais tarde levariam à criação da IBM.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81664" y="2692201"/>
            <a:ext cx="7629654" cy="5246370"/>
            <a:chOff x="0" y="0"/>
            <a:chExt cx="6159500" cy="4235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5"/>
              <a:stretch>
                <a:fillRect l="-10904" t="0" r="-1090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761887" y="280661"/>
            <a:ext cx="8705974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TRANSIÇÃO ELETROMECÂNICA E A LÓGICA BOOLEANA: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23101" y="249800"/>
            <a:ext cx="259002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Herman Hollerith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061672" y="2174108"/>
            <a:ext cx="4972805" cy="5246370"/>
            <a:chOff x="0" y="0"/>
            <a:chExt cx="2077720" cy="2192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526" y="-1637"/>
              <a:ext cx="2078246" cy="2191971"/>
            </a:xfrm>
            <a:custGeom>
              <a:avLst/>
              <a:gdLst/>
              <a:ahLst/>
              <a:cxnLst/>
              <a:rect r="r" b="b" t="t" l="l"/>
              <a:pathLst>
                <a:path h="2191971" w="2078246">
                  <a:moveTo>
                    <a:pt x="2078246" y="394067"/>
                  </a:moveTo>
                  <a:cubicBezTo>
                    <a:pt x="2076976" y="394067"/>
                    <a:pt x="2075706" y="394067"/>
                    <a:pt x="2074436" y="392797"/>
                  </a:cubicBezTo>
                  <a:cubicBezTo>
                    <a:pt x="2068086" y="391527"/>
                    <a:pt x="2060466" y="392797"/>
                    <a:pt x="2056656" y="386447"/>
                  </a:cubicBezTo>
                  <a:cubicBezTo>
                    <a:pt x="2055386" y="383907"/>
                    <a:pt x="2051576" y="381367"/>
                    <a:pt x="2049036" y="380097"/>
                  </a:cubicBezTo>
                  <a:cubicBezTo>
                    <a:pt x="2043956" y="375017"/>
                    <a:pt x="2037606" y="369937"/>
                    <a:pt x="2031256" y="364857"/>
                  </a:cubicBezTo>
                  <a:lnTo>
                    <a:pt x="2019826" y="353427"/>
                  </a:lnTo>
                  <a:cubicBezTo>
                    <a:pt x="2018556" y="352157"/>
                    <a:pt x="2018556" y="350887"/>
                    <a:pt x="2018556" y="349617"/>
                  </a:cubicBezTo>
                  <a:cubicBezTo>
                    <a:pt x="2016016" y="347077"/>
                    <a:pt x="2012206" y="344537"/>
                    <a:pt x="2008396" y="344537"/>
                  </a:cubicBezTo>
                  <a:cubicBezTo>
                    <a:pt x="2002046" y="343267"/>
                    <a:pt x="1995696" y="343267"/>
                    <a:pt x="1989346" y="341997"/>
                  </a:cubicBezTo>
                  <a:lnTo>
                    <a:pt x="1984266" y="341997"/>
                  </a:lnTo>
                  <a:cubicBezTo>
                    <a:pt x="1977916" y="339457"/>
                    <a:pt x="1972836" y="338187"/>
                    <a:pt x="1966486" y="339457"/>
                  </a:cubicBezTo>
                  <a:cubicBezTo>
                    <a:pt x="1963946" y="339457"/>
                    <a:pt x="1961406" y="339457"/>
                    <a:pt x="1960136" y="336917"/>
                  </a:cubicBezTo>
                  <a:cubicBezTo>
                    <a:pt x="1958866" y="334377"/>
                    <a:pt x="1956326" y="333107"/>
                    <a:pt x="1955056" y="331837"/>
                  </a:cubicBezTo>
                  <a:cubicBezTo>
                    <a:pt x="1952516" y="329297"/>
                    <a:pt x="1948706" y="328027"/>
                    <a:pt x="1946166" y="326757"/>
                  </a:cubicBezTo>
                  <a:cubicBezTo>
                    <a:pt x="1941086" y="322947"/>
                    <a:pt x="1937276" y="319137"/>
                    <a:pt x="1930926" y="319137"/>
                  </a:cubicBezTo>
                  <a:cubicBezTo>
                    <a:pt x="1925846" y="319137"/>
                    <a:pt x="1920766" y="317867"/>
                    <a:pt x="1915686" y="316597"/>
                  </a:cubicBezTo>
                  <a:cubicBezTo>
                    <a:pt x="1914416" y="316597"/>
                    <a:pt x="1914416" y="316597"/>
                    <a:pt x="1914416" y="315327"/>
                  </a:cubicBezTo>
                  <a:cubicBezTo>
                    <a:pt x="1910606" y="310247"/>
                    <a:pt x="1904256" y="308977"/>
                    <a:pt x="1897906" y="308977"/>
                  </a:cubicBezTo>
                  <a:cubicBezTo>
                    <a:pt x="1895366" y="308977"/>
                    <a:pt x="1892826" y="307707"/>
                    <a:pt x="1892826" y="306437"/>
                  </a:cubicBezTo>
                  <a:cubicBezTo>
                    <a:pt x="1891556" y="302627"/>
                    <a:pt x="1889016" y="301357"/>
                    <a:pt x="1886476" y="301357"/>
                  </a:cubicBezTo>
                  <a:cubicBezTo>
                    <a:pt x="1882666" y="301357"/>
                    <a:pt x="1878856" y="300087"/>
                    <a:pt x="1876316" y="301357"/>
                  </a:cubicBezTo>
                  <a:cubicBezTo>
                    <a:pt x="1866156" y="305167"/>
                    <a:pt x="1858536" y="297547"/>
                    <a:pt x="1849646" y="296277"/>
                  </a:cubicBezTo>
                  <a:lnTo>
                    <a:pt x="1848376" y="295007"/>
                  </a:lnTo>
                  <a:cubicBezTo>
                    <a:pt x="1845836" y="288657"/>
                    <a:pt x="1839486" y="288657"/>
                    <a:pt x="1833136" y="287387"/>
                  </a:cubicBezTo>
                  <a:cubicBezTo>
                    <a:pt x="1833136" y="286117"/>
                    <a:pt x="1834406" y="286117"/>
                    <a:pt x="1834406" y="284847"/>
                  </a:cubicBezTo>
                  <a:cubicBezTo>
                    <a:pt x="1833136" y="284847"/>
                    <a:pt x="1831866" y="286117"/>
                    <a:pt x="1829326" y="286117"/>
                  </a:cubicBezTo>
                  <a:cubicBezTo>
                    <a:pt x="1828056" y="286117"/>
                    <a:pt x="1825516" y="287387"/>
                    <a:pt x="1824246" y="286117"/>
                  </a:cubicBezTo>
                  <a:cubicBezTo>
                    <a:pt x="1821706" y="282307"/>
                    <a:pt x="1817896" y="278497"/>
                    <a:pt x="1817896" y="274687"/>
                  </a:cubicBezTo>
                  <a:cubicBezTo>
                    <a:pt x="1817896" y="270877"/>
                    <a:pt x="1814086" y="270877"/>
                    <a:pt x="1812816" y="269607"/>
                  </a:cubicBezTo>
                  <a:lnTo>
                    <a:pt x="1810276" y="269607"/>
                  </a:lnTo>
                  <a:cubicBezTo>
                    <a:pt x="1805196" y="264527"/>
                    <a:pt x="1800116" y="263257"/>
                    <a:pt x="1793766" y="267067"/>
                  </a:cubicBezTo>
                  <a:cubicBezTo>
                    <a:pt x="1792496" y="263257"/>
                    <a:pt x="1795036" y="258177"/>
                    <a:pt x="1789956" y="256907"/>
                  </a:cubicBezTo>
                  <a:lnTo>
                    <a:pt x="1789956" y="255637"/>
                  </a:lnTo>
                  <a:cubicBezTo>
                    <a:pt x="1792496" y="249287"/>
                    <a:pt x="1788686" y="245477"/>
                    <a:pt x="1783606" y="242937"/>
                  </a:cubicBezTo>
                  <a:cubicBezTo>
                    <a:pt x="1779796" y="240397"/>
                    <a:pt x="1778526" y="237857"/>
                    <a:pt x="1778526" y="234047"/>
                  </a:cubicBezTo>
                  <a:lnTo>
                    <a:pt x="1778526" y="228967"/>
                  </a:lnTo>
                  <a:cubicBezTo>
                    <a:pt x="1773446" y="227697"/>
                    <a:pt x="1770906" y="222617"/>
                    <a:pt x="1768366" y="218807"/>
                  </a:cubicBezTo>
                  <a:cubicBezTo>
                    <a:pt x="1767096" y="213727"/>
                    <a:pt x="1764556" y="209917"/>
                    <a:pt x="1762016" y="206107"/>
                  </a:cubicBezTo>
                  <a:cubicBezTo>
                    <a:pt x="1759476" y="202297"/>
                    <a:pt x="1754396" y="199757"/>
                    <a:pt x="1754396" y="193407"/>
                  </a:cubicBezTo>
                  <a:cubicBezTo>
                    <a:pt x="1754396" y="189597"/>
                    <a:pt x="1753126" y="185787"/>
                    <a:pt x="1751856" y="181977"/>
                  </a:cubicBezTo>
                  <a:cubicBezTo>
                    <a:pt x="1749316" y="176897"/>
                    <a:pt x="1746776" y="173087"/>
                    <a:pt x="1742966" y="168007"/>
                  </a:cubicBezTo>
                  <a:cubicBezTo>
                    <a:pt x="1745506" y="164197"/>
                    <a:pt x="1748046" y="161657"/>
                    <a:pt x="1744236" y="157847"/>
                  </a:cubicBezTo>
                  <a:lnTo>
                    <a:pt x="1744236" y="155307"/>
                  </a:lnTo>
                  <a:cubicBezTo>
                    <a:pt x="1744236" y="154037"/>
                    <a:pt x="1742966" y="152767"/>
                    <a:pt x="1742966" y="151497"/>
                  </a:cubicBezTo>
                  <a:cubicBezTo>
                    <a:pt x="1741696" y="150227"/>
                    <a:pt x="1739156" y="148957"/>
                    <a:pt x="1737886" y="147687"/>
                  </a:cubicBezTo>
                  <a:cubicBezTo>
                    <a:pt x="1734076" y="143877"/>
                    <a:pt x="1731536" y="138797"/>
                    <a:pt x="1725186" y="141337"/>
                  </a:cubicBezTo>
                  <a:cubicBezTo>
                    <a:pt x="1722646" y="136257"/>
                    <a:pt x="1721376" y="131177"/>
                    <a:pt x="1720106" y="126097"/>
                  </a:cubicBezTo>
                  <a:cubicBezTo>
                    <a:pt x="1718836" y="122287"/>
                    <a:pt x="1717566" y="119747"/>
                    <a:pt x="1716296" y="115937"/>
                  </a:cubicBezTo>
                  <a:lnTo>
                    <a:pt x="1716296" y="114667"/>
                  </a:lnTo>
                  <a:cubicBezTo>
                    <a:pt x="1718836" y="109587"/>
                    <a:pt x="1715026" y="105777"/>
                    <a:pt x="1715026" y="101967"/>
                  </a:cubicBezTo>
                  <a:cubicBezTo>
                    <a:pt x="1715026" y="99427"/>
                    <a:pt x="1712486" y="96887"/>
                    <a:pt x="1711216" y="94347"/>
                  </a:cubicBezTo>
                  <a:cubicBezTo>
                    <a:pt x="1709946" y="90537"/>
                    <a:pt x="1706136" y="87997"/>
                    <a:pt x="1706136" y="84187"/>
                  </a:cubicBezTo>
                  <a:lnTo>
                    <a:pt x="1706136" y="63867"/>
                  </a:lnTo>
                  <a:cubicBezTo>
                    <a:pt x="1704866" y="56247"/>
                    <a:pt x="1702326" y="52437"/>
                    <a:pt x="1693436" y="51167"/>
                  </a:cubicBezTo>
                  <a:cubicBezTo>
                    <a:pt x="1692166" y="51167"/>
                    <a:pt x="1690896" y="51167"/>
                    <a:pt x="1690896" y="49897"/>
                  </a:cubicBezTo>
                  <a:cubicBezTo>
                    <a:pt x="1688356" y="46087"/>
                    <a:pt x="1684546" y="44817"/>
                    <a:pt x="1679466" y="43547"/>
                  </a:cubicBezTo>
                  <a:cubicBezTo>
                    <a:pt x="1675656" y="43547"/>
                    <a:pt x="1673116" y="43547"/>
                    <a:pt x="1670576" y="44817"/>
                  </a:cubicBezTo>
                  <a:cubicBezTo>
                    <a:pt x="1664226" y="48627"/>
                    <a:pt x="1657876" y="52437"/>
                    <a:pt x="1652796" y="57517"/>
                  </a:cubicBezTo>
                  <a:cubicBezTo>
                    <a:pt x="1646446" y="62597"/>
                    <a:pt x="1641366" y="66407"/>
                    <a:pt x="1633746" y="62597"/>
                  </a:cubicBezTo>
                  <a:lnTo>
                    <a:pt x="1631206" y="62597"/>
                  </a:lnTo>
                  <a:cubicBezTo>
                    <a:pt x="1628666" y="61327"/>
                    <a:pt x="1624856" y="60057"/>
                    <a:pt x="1622316" y="58787"/>
                  </a:cubicBezTo>
                  <a:cubicBezTo>
                    <a:pt x="1621046" y="60057"/>
                    <a:pt x="1619776" y="61327"/>
                    <a:pt x="1615966" y="60057"/>
                  </a:cubicBezTo>
                  <a:cubicBezTo>
                    <a:pt x="1608346" y="58787"/>
                    <a:pt x="1601996" y="57517"/>
                    <a:pt x="1595646" y="52437"/>
                  </a:cubicBezTo>
                  <a:cubicBezTo>
                    <a:pt x="1594376" y="51167"/>
                    <a:pt x="1591836" y="51167"/>
                    <a:pt x="1590566" y="51167"/>
                  </a:cubicBezTo>
                  <a:cubicBezTo>
                    <a:pt x="1585486" y="49897"/>
                    <a:pt x="1579136" y="48627"/>
                    <a:pt x="1572786" y="46087"/>
                  </a:cubicBezTo>
                  <a:cubicBezTo>
                    <a:pt x="1577866" y="42277"/>
                    <a:pt x="1576596" y="39737"/>
                    <a:pt x="1574056" y="37197"/>
                  </a:cubicBezTo>
                  <a:cubicBezTo>
                    <a:pt x="1570246" y="32117"/>
                    <a:pt x="1565166" y="32117"/>
                    <a:pt x="1561356" y="34657"/>
                  </a:cubicBezTo>
                  <a:cubicBezTo>
                    <a:pt x="1552466" y="38467"/>
                    <a:pt x="1543576" y="43547"/>
                    <a:pt x="1533416" y="47357"/>
                  </a:cubicBezTo>
                  <a:cubicBezTo>
                    <a:pt x="1529606" y="49897"/>
                    <a:pt x="1524526" y="51167"/>
                    <a:pt x="1519446" y="52437"/>
                  </a:cubicBezTo>
                  <a:cubicBezTo>
                    <a:pt x="1515636" y="53707"/>
                    <a:pt x="1511826" y="52437"/>
                    <a:pt x="1508016" y="53707"/>
                  </a:cubicBezTo>
                  <a:cubicBezTo>
                    <a:pt x="1504206" y="54977"/>
                    <a:pt x="1500396" y="56247"/>
                    <a:pt x="1495316" y="54977"/>
                  </a:cubicBezTo>
                  <a:cubicBezTo>
                    <a:pt x="1494046" y="54977"/>
                    <a:pt x="1491506" y="56247"/>
                    <a:pt x="1490236" y="56247"/>
                  </a:cubicBezTo>
                  <a:cubicBezTo>
                    <a:pt x="1487696" y="57517"/>
                    <a:pt x="1486426" y="58787"/>
                    <a:pt x="1483886" y="57517"/>
                  </a:cubicBezTo>
                  <a:cubicBezTo>
                    <a:pt x="1478806" y="57517"/>
                    <a:pt x="1476266" y="60057"/>
                    <a:pt x="1473726" y="62597"/>
                  </a:cubicBezTo>
                  <a:cubicBezTo>
                    <a:pt x="1471186" y="65137"/>
                    <a:pt x="1468646" y="70217"/>
                    <a:pt x="1466106" y="71487"/>
                  </a:cubicBezTo>
                  <a:cubicBezTo>
                    <a:pt x="1462296" y="72757"/>
                    <a:pt x="1459756" y="75297"/>
                    <a:pt x="1457216" y="77837"/>
                  </a:cubicBezTo>
                  <a:cubicBezTo>
                    <a:pt x="1454676" y="80377"/>
                    <a:pt x="1452136" y="81647"/>
                    <a:pt x="1449596" y="82917"/>
                  </a:cubicBezTo>
                  <a:cubicBezTo>
                    <a:pt x="1445786" y="85457"/>
                    <a:pt x="1441976" y="86727"/>
                    <a:pt x="1438166" y="89267"/>
                  </a:cubicBezTo>
                  <a:cubicBezTo>
                    <a:pt x="1434356" y="93077"/>
                    <a:pt x="1429276" y="95617"/>
                    <a:pt x="1424196" y="95617"/>
                  </a:cubicBezTo>
                  <a:cubicBezTo>
                    <a:pt x="1419116" y="96887"/>
                    <a:pt x="1412766" y="96887"/>
                    <a:pt x="1407686" y="100697"/>
                  </a:cubicBezTo>
                  <a:cubicBezTo>
                    <a:pt x="1407686" y="100697"/>
                    <a:pt x="1406416" y="101967"/>
                    <a:pt x="1405146" y="101967"/>
                  </a:cubicBezTo>
                  <a:cubicBezTo>
                    <a:pt x="1400066" y="101967"/>
                    <a:pt x="1394986" y="100697"/>
                    <a:pt x="1389906" y="100697"/>
                  </a:cubicBezTo>
                  <a:cubicBezTo>
                    <a:pt x="1386096" y="100697"/>
                    <a:pt x="1379746" y="99427"/>
                    <a:pt x="1377206" y="105777"/>
                  </a:cubicBezTo>
                  <a:cubicBezTo>
                    <a:pt x="1377206" y="105777"/>
                    <a:pt x="1375936" y="107047"/>
                    <a:pt x="1374666" y="107047"/>
                  </a:cubicBezTo>
                  <a:cubicBezTo>
                    <a:pt x="1370856" y="108317"/>
                    <a:pt x="1367046" y="110857"/>
                    <a:pt x="1363236" y="112127"/>
                  </a:cubicBezTo>
                  <a:cubicBezTo>
                    <a:pt x="1363236" y="114667"/>
                    <a:pt x="1359426" y="115937"/>
                    <a:pt x="1356886" y="115937"/>
                  </a:cubicBezTo>
                  <a:cubicBezTo>
                    <a:pt x="1345456" y="114667"/>
                    <a:pt x="1335296" y="114667"/>
                    <a:pt x="1323866" y="110857"/>
                  </a:cubicBezTo>
                  <a:cubicBezTo>
                    <a:pt x="1318786" y="109587"/>
                    <a:pt x="1313706" y="107047"/>
                    <a:pt x="1307356" y="104507"/>
                  </a:cubicBezTo>
                  <a:cubicBezTo>
                    <a:pt x="1306086" y="104507"/>
                    <a:pt x="1304816" y="103237"/>
                    <a:pt x="1303546" y="103237"/>
                  </a:cubicBezTo>
                  <a:cubicBezTo>
                    <a:pt x="1294656" y="103237"/>
                    <a:pt x="1285766" y="104507"/>
                    <a:pt x="1275606" y="104507"/>
                  </a:cubicBezTo>
                  <a:lnTo>
                    <a:pt x="1274336" y="104507"/>
                  </a:lnTo>
                  <a:cubicBezTo>
                    <a:pt x="1269256" y="101967"/>
                    <a:pt x="1262906" y="103237"/>
                    <a:pt x="1257826" y="107047"/>
                  </a:cubicBezTo>
                  <a:cubicBezTo>
                    <a:pt x="1256556" y="108317"/>
                    <a:pt x="1254016" y="109587"/>
                    <a:pt x="1252746" y="109587"/>
                  </a:cubicBezTo>
                  <a:cubicBezTo>
                    <a:pt x="1246396" y="108317"/>
                    <a:pt x="1241316" y="107047"/>
                    <a:pt x="1234966" y="105777"/>
                  </a:cubicBezTo>
                  <a:cubicBezTo>
                    <a:pt x="1228616" y="104507"/>
                    <a:pt x="1223536" y="103237"/>
                    <a:pt x="1217186" y="103237"/>
                  </a:cubicBezTo>
                  <a:cubicBezTo>
                    <a:pt x="1212106" y="103237"/>
                    <a:pt x="1207026" y="101967"/>
                    <a:pt x="1201946" y="99427"/>
                  </a:cubicBezTo>
                  <a:cubicBezTo>
                    <a:pt x="1196866" y="96887"/>
                    <a:pt x="1191786" y="95617"/>
                    <a:pt x="1186706" y="93077"/>
                  </a:cubicBezTo>
                  <a:cubicBezTo>
                    <a:pt x="1184166" y="91807"/>
                    <a:pt x="1180356" y="91807"/>
                    <a:pt x="1176546" y="90537"/>
                  </a:cubicBezTo>
                  <a:cubicBezTo>
                    <a:pt x="1176546" y="86727"/>
                    <a:pt x="1177816" y="84187"/>
                    <a:pt x="1177816" y="81647"/>
                  </a:cubicBezTo>
                  <a:cubicBezTo>
                    <a:pt x="1171466" y="84187"/>
                    <a:pt x="1167656" y="82917"/>
                    <a:pt x="1163846" y="80377"/>
                  </a:cubicBezTo>
                  <a:cubicBezTo>
                    <a:pt x="1161306" y="79107"/>
                    <a:pt x="1157496" y="79107"/>
                    <a:pt x="1154956" y="77837"/>
                  </a:cubicBezTo>
                  <a:lnTo>
                    <a:pt x="1151146" y="77837"/>
                  </a:lnTo>
                  <a:cubicBezTo>
                    <a:pt x="1146066" y="75297"/>
                    <a:pt x="1139716" y="75297"/>
                    <a:pt x="1133366" y="75297"/>
                  </a:cubicBezTo>
                  <a:cubicBezTo>
                    <a:pt x="1125746" y="75297"/>
                    <a:pt x="1116856" y="74027"/>
                    <a:pt x="1109236" y="68947"/>
                  </a:cubicBezTo>
                  <a:cubicBezTo>
                    <a:pt x="1102886" y="65137"/>
                    <a:pt x="1095266" y="62597"/>
                    <a:pt x="1087646" y="63867"/>
                  </a:cubicBezTo>
                  <a:cubicBezTo>
                    <a:pt x="1083836" y="65137"/>
                    <a:pt x="1080026" y="67677"/>
                    <a:pt x="1076216" y="68947"/>
                  </a:cubicBezTo>
                  <a:cubicBezTo>
                    <a:pt x="1069866" y="71487"/>
                    <a:pt x="1064786" y="76567"/>
                    <a:pt x="1058436" y="79107"/>
                  </a:cubicBezTo>
                  <a:cubicBezTo>
                    <a:pt x="1052086" y="81647"/>
                    <a:pt x="1044466" y="84187"/>
                    <a:pt x="1036846" y="86727"/>
                  </a:cubicBezTo>
                  <a:cubicBezTo>
                    <a:pt x="1033036" y="87997"/>
                    <a:pt x="1029226" y="90537"/>
                    <a:pt x="1025416" y="91807"/>
                  </a:cubicBezTo>
                  <a:cubicBezTo>
                    <a:pt x="1019066" y="94347"/>
                    <a:pt x="1013986" y="95617"/>
                    <a:pt x="1007636" y="98157"/>
                  </a:cubicBezTo>
                  <a:cubicBezTo>
                    <a:pt x="1003826" y="99427"/>
                    <a:pt x="998746" y="103237"/>
                    <a:pt x="994936" y="104507"/>
                  </a:cubicBezTo>
                  <a:cubicBezTo>
                    <a:pt x="987316" y="107047"/>
                    <a:pt x="979696" y="110857"/>
                    <a:pt x="970806" y="112127"/>
                  </a:cubicBezTo>
                  <a:cubicBezTo>
                    <a:pt x="966996" y="113397"/>
                    <a:pt x="965726" y="115937"/>
                    <a:pt x="963186" y="117207"/>
                  </a:cubicBezTo>
                  <a:lnTo>
                    <a:pt x="951756" y="121017"/>
                  </a:lnTo>
                  <a:cubicBezTo>
                    <a:pt x="944136" y="123557"/>
                    <a:pt x="937786" y="126097"/>
                    <a:pt x="930166" y="127367"/>
                  </a:cubicBezTo>
                  <a:cubicBezTo>
                    <a:pt x="926356" y="128637"/>
                    <a:pt x="921276" y="129907"/>
                    <a:pt x="917466" y="131177"/>
                  </a:cubicBezTo>
                  <a:cubicBezTo>
                    <a:pt x="916196" y="131177"/>
                    <a:pt x="916196" y="132447"/>
                    <a:pt x="914926" y="132447"/>
                  </a:cubicBezTo>
                  <a:cubicBezTo>
                    <a:pt x="912386" y="134987"/>
                    <a:pt x="909846" y="137527"/>
                    <a:pt x="906036" y="138797"/>
                  </a:cubicBezTo>
                  <a:cubicBezTo>
                    <a:pt x="899686" y="141337"/>
                    <a:pt x="893336" y="143877"/>
                    <a:pt x="886986" y="145147"/>
                  </a:cubicBezTo>
                  <a:cubicBezTo>
                    <a:pt x="884446" y="146417"/>
                    <a:pt x="880636" y="146417"/>
                    <a:pt x="878096" y="146417"/>
                  </a:cubicBezTo>
                  <a:cubicBezTo>
                    <a:pt x="870476" y="147687"/>
                    <a:pt x="862856" y="151497"/>
                    <a:pt x="855236" y="154037"/>
                  </a:cubicBezTo>
                  <a:cubicBezTo>
                    <a:pt x="848886" y="156577"/>
                    <a:pt x="842536" y="157847"/>
                    <a:pt x="837456" y="160387"/>
                  </a:cubicBezTo>
                  <a:cubicBezTo>
                    <a:pt x="829836" y="162927"/>
                    <a:pt x="822216" y="165467"/>
                    <a:pt x="818406" y="173087"/>
                  </a:cubicBezTo>
                  <a:cubicBezTo>
                    <a:pt x="818406" y="174357"/>
                    <a:pt x="815866" y="174357"/>
                    <a:pt x="815866" y="174357"/>
                  </a:cubicBezTo>
                  <a:cubicBezTo>
                    <a:pt x="812056" y="175627"/>
                    <a:pt x="806976" y="176897"/>
                    <a:pt x="803166" y="178167"/>
                  </a:cubicBezTo>
                  <a:cubicBezTo>
                    <a:pt x="801896" y="179437"/>
                    <a:pt x="800626" y="178167"/>
                    <a:pt x="800626" y="176897"/>
                  </a:cubicBezTo>
                  <a:cubicBezTo>
                    <a:pt x="799356" y="171817"/>
                    <a:pt x="799356" y="165467"/>
                    <a:pt x="791736" y="162927"/>
                  </a:cubicBezTo>
                  <a:lnTo>
                    <a:pt x="790466" y="161657"/>
                  </a:lnTo>
                  <a:cubicBezTo>
                    <a:pt x="790466" y="155307"/>
                    <a:pt x="785386" y="152767"/>
                    <a:pt x="780306" y="150227"/>
                  </a:cubicBezTo>
                  <a:cubicBezTo>
                    <a:pt x="775226" y="147687"/>
                    <a:pt x="771416" y="146417"/>
                    <a:pt x="767606" y="141337"/>
                  </a:cubicBezTo>
                  <a:cubicBezTo>
                    <a:pt x="765066" y="137527"/>
                    <a:pt x="759986" y="134987"/>
                    <a:pt x="756176" y="131177"/>
                  </a:cubicBezTo>
                  <a:cubicBezTo>
                    <a:pt x="752366" y="128637"/>
                    <a:pt x="747286" y="127367"/>
                    <a:pt x="744746" y="122287"/>
                  </a:cubicBezTo>
                  <a:cubicBezTo>
                    <a:pt x="743476" y="119747"/>
                    <a:pt x="740936" y="118477"/>
                    <a:pt x="738396" y="115937"/>
                  </a:cubicBezTo>
                  <a:cubicBezTo>
                    <a:pt x="739666" y="115937"/>
                    <a:pt x="737126" y="115937"/>
                    <a:pt x="735856" y="114667"/>
                  </a:cubicBezTo>
                  <a:cubicBezTo>
                    <a:pt x="734586" y="113397"/>
                    <a:pt x="733316" y="113397"/>
                    <a:pt x="732046" y="112127"/>
                  </a:cubicBezTo>
                  <a:cubicBezTo>
                    <a:pt x="730776" y="109587"/>
                    <a:pt x="729506" y="107047"/>
                    <a:pt x="725696" y="107047"/>
                  </a:cubicBezTo>
                  <a:cubicBezTo>
                    <a:pt x="724426" y="107047"/>
                    <a:pt x="723156" y="105777"/>
                    <a:pt x="721886" y="104507"/>
                  </a:cubicBezTo>
                  <a:cubicBezTo>
                    <a:pt x="720616" y="104507"/>
                    <a:pt x="719346" y="103237"/>
                    <a:pt x="716806" y="103237"/>
                  </a:cubicBezTo>
                  <a:lnTo>
                    <a:pt x="701566" y="95617"/>
                  </a:lnTo>
                  <a:cubicBezTo>
                    <a:pt x="697756" y="93077"/>
                    <a:pt x="693946" y="89267"/>
                    <a:pt x="688866" y="87997"/>
                  </a:cubicBezTo>
                  <a:cubicBezTo>
                    <a:pt x="681246" y="85457"/>
                    <a:pt x="674896" y="81647"/>
                    <a:pt x="669816" y="75297"/>
                  </a:cubicBezTo>
                  <a:cubicBezTo>
                    <a:pt x="664736" y="68947"/>
                    <a:pt x="658386" y="65137"/>
                    <a:pt x="650766" y="61327"/>
                  </a:cubicBezTo>
                  <a:cubicBezTo>
                    <a:pt x="646956" y="58787"/>
                    <a:pt x="643146" y="57517"/>
                    <a:pt x="640606" y="56247"/>
                  </a:cubicBezTo>
                  <a:cubicBezTo>
                    <a:pt x="635526" y="52437"/>
                    <a:pt x="629176" y="49897"/>
                    <a:pt x="622826" y="47357"/>
                  </a:cubicBezTo>
                  <a:cubicBezTo>
                    <a:pt x="625366" y="43547"/>
                    <a:pt x="624096" y="43547"/>
                    <a:pt x="621556" y="42277"/>
                  </a:cubicBezTo>
                  <a:cubicBezTo>
                    <a:pt x="619016" y="41007"/>
                    <a:pt x="616476" y="41007"/>
                    <a:pt x="615206" y="39737"/>
                  </a:cubicBezTo>
                  <a:cubicBezTo>
                    <a:pt x="613936" y="35927"/>
                    <a:pt x="610126" y="35927"/>
                    <a:pt x="607586" y="33387"/>
                  </a:cubicBezTo>
                  <a:cubicBezTo>
                    <a:pt x="603776" y="29577"/>
                    <a:pt x="598696" y="25767"/>
                    <a:pt x="594886" y="21957"/>
                  </a:cubicBezTo>
                  <a:cubicBezTo>
                    <a:pt x="593616" y="20687"/>
                    <a:pt x="592346" y="19417"/>
                    <a:pt x="591076" y="19417"/>
                  </a:cubicBezTo>
                  <a:cubicBezTo>
                    <a:pt x="580916" y="18147"/>
                    <a:pt x="573296" y="11797"/>
                    <a:pt x="564406" y="7987"/>
                  </a:cubicBezTo>
                  <a:cubicBezTo>
                    <a:pt x="563136" y="6717"/>
                    <a:pt x="560596" y="5447"/>
                    <a:pt x="559326" y="5447"/>
                  </a:cubicBezTo>
                  <a:cubicBezTo>
                    <a:pt x="554246" y="5447"/>
                    <a:pt x="549166" y="6717"/>
                    <a:pt x="542816" y="6717"/>
                  </a:cubicBezTo>
                  <a:cubicBezTo>
                    <a:pt x="537736" y="6717"/>
                    <a:pt x="531386" y="5447"/>
                    <a:pt x="526306" y="4177"/>
                  </a:cubicBezTo>
                  <a:cubicBezTo>
                    <a:pt x="521226" y="2907"/>
                    <a:pt x="516146" y="2907"/>
                    <a:pt x="511066" y="367"/>
                  </a:cubicBezTo>
                  <a:cubicBezTo>
                    <a:pt x="505986" y="-903"/>
                    <a:pt x="502176" y="1637"/>
                    <a:pt x="498366" y="367"/>
                  </a:cubicBezTo>
                  <a:cubicBezTo>
                    <a:pt x="495826" y="1637"/>
                    <a:pt x="489476" y="4177"/>
                    <a:pt x="485666" y="6717"/>
                  </a:cubicBezTo>
                  <a:cubicBezTo>
                    <a:pt x="480586" y="9257"/>
                    <a:pt x="475506" y="13067"/>
                    <a:pt x="470426" y="16877"/>
                  </a:cubicBezTo>
                  <a:cubicBezTo>
                    <a:pt x="464076" y="20687"/>
                    <a:pt x="456456" y="24497"/>
                    <a:pt x="448836" y="28307"/>
                  </a:cubicBezTo>
                  <a:cubicBezTo>
                    <a:pt x="447566" y="29577"/>
                    <a:pt x="445026" y="29577"/>
                    <a:pt x="442486" y="28307"/>
                  </a:cubicBezTo>
                  <a:cubicBezTo>
                    <a:pt x="439946" y="27037"/>
                    <a:pt x="437406" y="28307"/>
                    <a:pt x="434866" y="29577"/>
                  </a:cubicBezTo>
                  <a:cubicBezTo>
                    <a:pt x="431056" y="32117"/>
                    <a:pt x="425976" y="33387"/>
                    <a:pt x="422166" y="35927"/>
                  </a:cubicBezTo>
                  <a:cubicBezTo>
                    <a:pt x="415816" y="41007"/>
                    <a:pt x="409466" y="47357"/>
                    <a:pt x="400576" y="48627"/>
                  </a:cubicBezTo>
                  <a:cubicBezTo>
                    <a:pt x="395496" y="48627"/>
                    <a:pt x="390416" y="52437"/>
                    <a:pt x="385336" y="52437"/>
                  </a:cubicBezTo>
                  <a:cubicBezTo>
                    <a:pt x="381526" y="52437"/>
                    <a:pt x="378986" y="52437"/>
                    <a:pt x="375176" y="53707"/>
                  </a:cubicBezTo>
                  <a:cubicBezTo>
                    <a:pt x="370096" y="54977"/>
                    <a:pt x="365016" y="57517"/>
                    <a:pt x="358666" y="57517"/>
                  </a:cubicBezTo>
                  <a:cubicBezTo>
                    <a:pt x="351046" y="57517"/>
                    <a:pt x="344696" y="61327"/>
                    <a:pt x="337076" y="63867"/>
                  </a:cubicBezTo>
                  <a:cubicBezTo>
                    <a:pt x="329456" y="67677"/>
                    <a:pt x="323106" y="71487"/>
                    <a:pt x="315486" y="75297"/>
                  </a:cubicBezTo>
                  <a:cubicBezTo>
                    <a:pt x="310406" y="77837"/>
                    <a:pt x="305326" y="77837"/>
                    <a:pt x="298976" y="76567"/>
                  </a:cubicBezTo>
                  <a:cubicBezTo>
                    <a:pt x="295166" y="76567"/>
                    <a:pt x="292626" y="75297"/>
                    <a:pt x="290086" y="77837"/>
                  </a:cubicBezTo>
                  <a:lnTo>
                    <a:pt x="278656" y="85457"/>
                  </a:lnTo>
                  <a:cubicBezTo>
                    <a:pt x="273576" y="89267"/>
                    <a:pt x="269766" y="94347"/>
                    <a:pt x="265956" y="98157"/>
                  </a:cubicBezTo>
                  <a:cubicBezTo>
                    <a:pt x="260876" y="104507"/>
                    <a:pt x="258336" y="112127"/>
                    <a:pt x="250716" y="115937"/>
                  </a:cubicBezTo>
                  <a:cubicBezTo>
                    <a:pt x="249446" y="117207"/>
                    <a:pt x="248176" y="119747"/>
                    <a:pt x="246906" y="122287"/>
                  </a:cubicBezTo>
                  <a:cubicBezTo>
                    <a:pt x="245636" y="123557"/>
                    <a:pt x="245636" y="124827"/>
                    <a:pt x="244366" y="126097"/>
                  </a:cubicBezTo>
                  <a:cubicBezTo>
                    <a:pt x="240556" y="129907"/>
                    <a:pt x="236746" y="133717"/>
                    <a:pt x="234206" y="138797"/>
                  </a:cubicBezTo>
                  <a:cubicBezTo>
                    <a:pt x="231666" y="143877"/>
                    <a:pt x="225316" y="145147"/>
                    <a:pt x="222776" y="148957"/>
                  </a:cubicBezTo>
                  <a:cubicBezTo>
                    <a:pt x="218966" y="154037"/>
                    <a:pt x="211346" y="156577"/>
                    <a:pt x="206266" y="159117"/>
                  </a:cubicBezTo>
                  <a:cubicBezTo>
                    <a:pt x="198646" y="162927"/>
                    <a:pt x="192296" y="168007"/>
                    <a:pt x="188486" y="175627"/>
                  </a:cubicBezTo>
                  <a:cubicBezTo>
                    <a:pt x="188486" y="176897"/>
                    <a:pt x="188486" y="176897"/>
                    <a:pt x="187216" y="178167"/>
                  </a:cubicBezTo>
                  <a:cubicBezTo>
                    <a:pt x="178326" y="183247"/>
                    <a:pt x="169436" y="187057"/>
                    <a:pt x="160546" y="192137"/>
                  </a:cubicBezTo>
                  <a:cubicBezTo>
                    <a:pt x="154196" y="195947"/>
                    <a:pt x="146576" y="195947"/>
                    <a:pt x="140226" y="201027"/>
                  </a:cubicBezTo>
                  <a:cubicBezTo>
                    <a:pt x="137686" y="203567"/>
                    <a:pt x="133876" y="204837"/>
                    <a:pt x="130066" y="206107"/>
                  </a:cubicBezTo>
                  <a:cubicBezTo>
                    <a:pt x="122446" y="209917"/>
                    <a:pt x="114826" y="211187"/>
                    <a:pt x="109746" y="217537"/>
                  </a:cubicBezTo>
                  <a:cubicBezTo>
                    <a:pt x="103396" y="225157"/>
                    <a:pt x="94506" y="227697"/>
                    <a:pt x="88156" y="232777"/>
                  </a:cubicBezTo>
                  <a:cubicBezTo>
                    <a:pt x="79266" y="239127"/>
                    <a:pt x="70376" y="245477"/>
                    <a:pt x="61486" y="253097"/>
                  </a:cubicBezTo>
                  <a:cubicBezTo>
                    <a:pt x="56406" y="255637"/>
                    <a:pt x="51326" y="256907"/>
                    <a:pt x="46246" y="254367"/>
                  </a:cubicBezTo>
                  <a:cubicBezTo>
                    <a:pt x="43706" y="253097"/>
                    <a:pt x="41166" y="251827"/>
                    <a:pt x="39896" y="253097"/>
                  </a:cubicBezTo>
                  <a:cubicBezTo>
                    <a:pt x="34816" y="256907"/>
                    <a:pt x="28466" y="258177"/>
                    <a:pt x="22116" y="259447"/>
                  </a:cubicBezTo>
                  <a:cubicBezTo>
                    <a:pt x="20846" y="259447"/>
                    <a:pt x="19576" y="260717"/>
                    <a:pt x="18306" y="260717"/>
                  </a:cubicBezTo>
                  <a:cubicBezTo>
                    <a:pt x="15766" y="406767"/>
                    <a:pt x="9416" y="554087"/>
                    <a:pt x="3066" y="700137"/>
                  </a:cubicBezTo>
                  <a:cubicBezTo>
                    <a:pt x="-3284" y="857617"/>
                    <a:pt x="6876" y="994777"/>
                    <a:pt x="5606" y="1152257"/>
                  </a:cubicBezTo>
                  <a:cubicBezTo>
                    <a:pt x="4336" y="1311007"/>
                    <a:pt x="-7094" y="1486267"/>
                    <a:pt x="6876" y="1643747"/>
                  </a:cubicBezTo>
                  <a:cubicBezTo>
                    <a:pt x="19576" y="1799957"/>
                    <a:pt x="34816" y="1956167"/>
                    <a:pt x="47516" y="2112377"/>
                  </a:cubicBezTo>
                  <a:lnTo>
                    <a:pt x="48786" y="2112377"/>
                  </a:lnTo>
                  <a:cubicBezTo>
                    <a:pt x="53866" y="2111107"/>
                    <a:pt x="58946" y="2111107"/>
                    <a:pt x="65296" y="2111107"/>
                  </a:cubicBezTo>
                  <a:cubicBezTo>
                    <a:pt x="72916" y="2109837"/>
                    <a:pt x="79266" y="2107297"/>
                    <a:pt x="86886" y="2107297"/>
                  </a:cubicBezTo>
                  <a:cubicBezTo>
                    <a:pt x="95776" y="2107297"/>
                    <a:pt x="104666" y="2108567"/>
                    <a:pt x="113556" y="2108567"/>
                  </a:cubicBezTo>
                  <a:cubicBezTo>
                    <a:pt x="122446" y="2108567"/>
                    <a:pt x="131336" y="2109837"/>
                    <a:pt x="138956" y="2111107"/>
                  </a:cubicBezTo>
                  <a:cubicBezTo>
                    <a:pt x="146576" y="2112377"/>
                    <a:pt x="152926" y="2112377"/>
                    <a:pt x="159276" y="2108567"/>
                  </a:cubicBezTo>
                  <a:lnTo>
                    <a:pt x="160546" y="2108567"/>
                  </a:lnTo>
                  <a:cubicBezTo>
                    <a:pt x="168166" y="2107297"/>
                    <a:pt x="175786" y="2106027"/>
                    <a:pt x="184676" y="2104757"/>
                  </a:cubicBezTo>
                  <a:cubicBezTo>
                    <a:pt x="187216" y="2104757"/>
                    <a:pt x="191026" y="2104757"/>
                    <a:pt x="192296" y="2106027"/>
                  </a:cubicBezTo>
                  <a:cubicBezTo>
                    <a:pt x="197376" y="2111107"/>
                    <a:pt x="202456" y="2109837"/>
                    <a:pt x="208806" y="2108567"/>
                  </a:cubicBezTo>
                  <a:cubicBezTo>
                    <a:pt x="215156" y="2107297"/>
                    <a:pt x="218966" y="2108567"/>
                    <a:pt x="224046" y="2111107"/>
                  </a:cubicBezTo>
                  <a:cubicBezTo>
                    <a:pt x="226586" y="2112377"/>
                    <a:pt x="229126" y="2112377"/>
                    <a:pt x="231666" y="2112377"/>
                  </a:cubicBezTo>
                  <a:lnTo>
                    <a:pt x="248176" y="2112377"/>
                  </a:lnTo>
                  <a:cubicBezTo>
                    <a:pt x="251986" y="2112377"/>
                    <a:pt x="255796" y="2114917"/>
                    <a:pt x="259606" y="2114917"/>
                  </a:cubicBezTo>
                  <a:cubicBezTo>
                    <a:pt x="264686" y="2116187"/>
                    <a:pt x="271036" y="2116187"/>
                    <a:pt x="276116" y="2116187"/>
                  </a:cubicBezTo>
                  <a:cubicBezTo>
                    <a:pt x="278656" y="2116187"/>
                    <a:pt x="281196" y="2118727"/>
                    <a:pt x="282466" y="2119997"/>
                  </a:cubicBezTo>
                  <a:cubicBezTo>
                    <a:pt x="293896" y="2123807"/>
                    <a:pt x="304056" y="2121267"/>
                    <a:pt x="315486" y="2121267"/>
                  </a:cubicBezTo>
                  <a:cubicBezTo>
                    <a:pt x="318026" y="2121267"/>
                    <a:pt x="320566" y="2118727"/>
                    <a:pt x="323106" y="2118727"/>
                  </a:cubicBezTo>
                  <a:cubicBezTo>
                    <a:pt x="331996" y="2117457"/>
                    <a:pt x="339616" y="2118727"/>
                    <a:pt x="347236" y="2122537"/>
                  </a:cubicBezTo>
                  <a:cubicBezTo>
                    <a:pt x="351046" y="2123807"/>
                    <a:pt x="356126" y="2123807"/>
                    <a:pt x="361206" y="2123807"/>
                  </a:cubicBezTo>
                  <a:lnTo>
                    <a:pt x="365016" y="2123807"/>
                  </a:lnTo>
                  <a:cubicBezTo>
                    <a:pt x="370096" y="2125077"/>
                    <a:pt x="373906" y="2127617"/>
                    <a:pt x="378986" y="2126347"/>
                  </a:cubicBezTo>
                  <a:cubicBezTo>
                    <a:pt x="385336" y="2125077"/>
                    <a:pt x="391686" y="2125077"/>
                    <a:pt x="399306" y="2123807"/>
                  </a:cubicBezTo>
                  <a:cubicBezTo>
                    <a:pt x="405656" y="2122537"/>
                    <a:pt x="412006" y="2123807"/>
                    <a:pt x="418356" y="2125077"/>
                  </a:cubicBezTo>
                  <a:cubicBezTo>
                    <a:pt x="419626" y="2125077"/>
                    <a:pt x="420896" y="2126347"/>
                    <a:pt x="422166" y="2125077"/>
                  </a:cubicBezTo>
                  <a:cubicBezTo>
                    <a:pt x="428516" y="2123807"/>
                    <a:pt x="433596" y="2121267"/>
                    <a:pt x="439946" y="2122537"/>
                  </a:cubicBezTo>
                  <a:cubicBezTo>
                    <a:pt x="445026" y="2123807"/>
                    <a:pt x="448836" y="2125077"/>
                    <a:pt x="453916" y="2126347"/>
                  </a:cubicBezTo>
                  <a:cubicBezTo>
                    <a:pt x="458996" y="2127617"/>
                    <a:pt x="462806" y="2128887"/>
                    <a:pt x="467886" y="2130157"/>
                  </a:cubicBezTo>
                  <a:cubicBezTo>
                    <a:pt x="474236" y="2131427"/>
                    <a:pt x="480586" y="2131427"/>
                    <a:pt x="485666" y="2132697"/>
                  </a:cubicBezTo>
                  <a:cubicBezTo>
                    <a:pt x="492016" y="2133967"/>
                    <a:pt x="495826" y="2139047"/>
                    <a:pt x="502176" y="2139047"/>
                  </a:cubicBezTo>
                  <a:cubicBezTo>
                    <a:pt x="508526" y="2139047"/>
                    <a:pt x="513606" y="2142857"/>
                    <a:pt x="519956" y="2145397"/>
                  </a:cubicBezTo>
                  <a:cubicBezTo>
                    <a:pt x="522496" y="2146667"/>
                    <a:pt x="525036" y="2146667"/>
                    <a:pt x="528846" y="2147937"/>
                  </a:cubicBezTo>
                  <a:cubicBezTo>
                    <a:pt x="536466" y="2149207"/>
                    <a:pt x="542816" y="2149207"/>
                    <a:pt x="550436" y="2150477"/>
                  </a:cubicBezTo>
                  <a:cubicBezTo>
                    <a:pt x="556786" y="2151747"/>
                    <a:pt x="563136" y="2154287"/>
                    <a:pt x="569486" y="2153017"/>
                  </a:cubicBezTo>
                  <a:cubicBezTo>
                    <a:pt x="579646" y="2151747"/>
                    <a:pt x="587266" y="2154287"/>
                    <a:pt x="596156" y="2156827"/>
                  </a:cubicBezTo>
                  <a:cubicBezTo>
                    <a:pt x="602506" y="2158097"/>
                    <a:pt x="607586" y="2161907"/>
                    <a:pt x="613936" y="2161907"/>
                  </a:cubicBezTo>
                  <a:cubicBezTo>
                    <a:pt x="621556" y="2163177"/>
                    <a:pt x="629176" y="2164447"/>
                    <a:pt x="634256" y="2169527"/>
                  </a:cubicBezTo>
                  <a:cubicBezTo>
                    <a:pt x="635526" y="2168257"/>
                    <a:pt x="636796" y="2168257"/>
                    <a:pt x="636796" y="2168257"/>
                  </a:cubicBezTo>
                  <a:cubicBezTo>
                    <a:pt x="640606" y="2169527"/>
                    <a:pt x="645686" y="2169527"/>
                    <a:pt x="649496" y="2170797"/>
                  </a:cubicBezTo>
                  <a:cubicBezTo>
                    <a:pt x="657116" y="2172067"/>
                    <a:pt x="663466" y="2174607"/>
                    <a:pt x="669816" y="2175877"/>
                  </a:cubicBezTo>
                  <a:cubicBezTo>
                    <a:pt x="673626" y="2177147"/>
                    <a:pt x="677436" y="2177147"/>
                    <a:pt x="679976" y="2179687"/>
                  </a:cubicBezTo>
                  <a:cubicBezTo>
                    <a:pt x="683786" y="2182227"/>
                    <a:pt x="687596" y="2183497"/>
                    <a:pt x="691406" y="2182227"/>
                  </a:cubicBezTo>
                  <a:cubicBezTo>
                    <a:pt x="695216" y="2182227"/>
                    <a:pt x="697756" y="2180957"/>
                    <a:pt x="701566" y="2182227"/>
                  </a:cubicBezTo>
                  <a:cubicBezTo>
                    <a:pt x="709186" y="2183497"/>
                    <a:pt x="715536" y="2187307"/>
                    <a:pt x="723156" y="2188577"/>
                  </a:cubicBezTo>
                  <a:cubicBezTo>
                    <a:pt x="725696" y="2189847"/>
                    <a:pt x="729506" y="2189847"/>
                    <a:pt x="733316" y="2188577"/>
                  </a:cubicBezTo>
                  <a:cubicBezTo>
                    <a:pt x="743476" y="2186037"/>
                    <a:pt x="753636" y="2186037"/>
                    <a:pt x="763796" y="2188577"/>
                  </a:cubicBezTo>
                  <a:cubicBezTo>
                    <a:pt x="770146" y="2189847"/>
                    <a:pt x="777766" y="2193657"/>
                    <a:pt x="784116" y="2191117"/>
                  </a:cubicBezTo>
                  <a:cubicBezTo>
                    <a:pt x="789196" y="2189847"/>
                    <a:pt x="793006" y="2189847"/>
                    <a:pt x="796816" y="2189847"/>
                  </a:cubicBezTo>
                  <a:cubicBezTo>
                    <a:pt x="799356" y="2189847"/>
                    <a:pt x="801896" y="2191117"/>
                    <a:pt x="803166" y="2189847"/>
                  </a:cubicBezTo>
                  <a:cubicBezTo>
                    <a:pt x="809516" y="2183497"/>
                    <a:pt x="817136" y="2186037"/>
                    <a:pt x="824756" y="2186037"/>
                  </a:cubicBezTo>
                  <a:cubicBezTo>
                    <a:pt x="829836" y="2187307"/>
                    <a:pt x="836186" y="2187307"/>
                    <a:pt x="841266" y="2184767"/>
                  </a:cubicBezTo>
                  <a:lnTo>
                    <a:pt x="843806" y="2184767"/>
                  </a:lnTo>
                  <a:cubicBezTo>
                    <a:pt x="851426" y="2184767"/>
                    <a:pt x="859046" y="2186037"/>
                    <a:pt x="866666" y="2186037"/>
                  </a:cubicBezTo>
                  <a:lnTo>
                    <a:pt x="869206" y="2186037"/>
                  </a:lnTo>
                  <a:cubicBezTo>
                    <a:pt x="874286" y="2184767"/>
                    <a:pt x="878096" y="2182227"/>
                    <a:pt x="883176" y="2180957"/>
                  </a:cubicBezTo>
                  <a:cubicBezTo>
                    <a:pt x="890796" y="2178417"/>
                    <a:pt x="898416" y="2177147"/>
                    <a:pt x="906036" y="2175877"/>
                  </a:cubicBezTo>
                  <a:cubicBezTo>
                    <a:pt x="912386" y="2174607"/>
                    <a:pt x="917466" y="2175877"/>
                    <a:pt x="923816" y="2174607"/>
                  </a:cubicBezTo>
                  <a:cubicBezTo>
                    <a:pt x="925086" y="2174607"/>
                    <a:pt x="926356" y="2174607"/>
                    <a:pt x="927626" y="2173337"/>
                  </a:cubicBezTo>
                  <a:cubicBezTo>
                    <a:pt x="931436" y="2170797"/>
                    <a:pt x="937786" y="2173337"/>
                    <a:pt x="939056" y="2168257"/>
                  </a:cubicBezTo>
                  <a:lnTo>
                    <a:pt x="940326" y="2168257"/>
                  </a:lnTo>
                  <a:cubicBezTo>
                    <a:pt x="942866" y="2168257"/>
                    <a:pt x="946676" y="2168257"/>
                    <a:pt x="949216" y="2165717"/>
                  </a:cubicBezTo>
                  <a:cubicBezTo>
                    <a:pt x="954296" y="2161907"/>
                    <a:pt x="958106" y="2163177"/>
                    <a:pt x="963186" y="2164447"/>
                  </a:cubicBezTo>
                  <a:cubicBezTo>
                    <a:pt x="969536" y="2165717"/>
                    <a:pt x="975886" y="2166987"/>
                    <a:pt x="980966" y="2165717"/>
                  </a:cubicBezTo>
                  <a:cubicBezTo>
                    <a:pt x="987316" y="2164447"/>
                    <a:pt x="994936" y="2161907"/>
                    <a:pt x="1001286" y="2160637"/>
                  </a:cubicBezTo>
                  <a:cubicBezTo>
                    <a:pt x="1002556" y="2160637"/>
                    <a:pt x="1003826" y="2159367"/>
                    <a:pt x="1005096" y="2158097"/>
                  </a:cubicBezTo>
                  <a:cubicBezTo>
                    <a:pt x="1008906" y="2155557"/>
                    <a:pt x="1011446" y="2151747"/>
                    <a:pt x="1015256" y="2149207"/>
                  </a:cubicBezTo>
                  <a:cubicBezTo>
                    <a:pt x="1015256" y="2149207"/>
                    <a:pt x="1016526" y="2147937"/>
                    <a:pt x="1017796" y="2147937"/>
                  </a:cubicBezTo>
                  <a:cubicBezTo>
                    <a:pt x="1024146" y="2150477"/>
                    <a:pt x="1026686" y="2144127"/>
                    <a:pt x="1030496" y="2141587"/>
                  </a:cubicBezTo>
                  <a:cubicBezTo>
                    <a:pt x="1035576" y="2139047"/>
                    <a:pt x="1038116" y="2131427"/>
                    <a:pt x="1045736" y="2132697"/>
                  </a:cubicBezTo>
                  <a:lnTo>
                    <a:pt x="1047006" y="2132697"/>
                  </a:lnTo>
                  <a:cubicBezTo>
                    <a:pt x="1052086" y="2130157"/>
                    <a:pt x="1057166" y="2126347"/>
                    <a:pt x="1060976" y="2123807"/>
                  </a:cubicBezTo>
                  <a:cubicBezTo>
                    <a:pt x="1062246" y="2122537"/>
                    <a:pt x="1063516" y="2121267"/>
                    <a:pt x="1063516" y="2119997"/>
                  </a:cubicBezTo>
                  <a:cubicBezTo>
                    <a:pt x="1064786" y="2118727"/>
                    <a:pt x="1066056" y="2116187"/>
                    <a:pt x="1068596" y="2114917"/>
                  </a:cubicBezTo>
                  <a:cubicBezTo>
                    <a:pt x="1077486" y="2108567"/>
                    <a:pt x="1086376" y="2103487"/>
                    <a:pt x="1095266" y="2097137"/>
                  </a:cubicBezTo>
                  <a:cubicBezTo>
                    <a:pt x="1099076" y="2094597"/>
                    <a:pt x="1105426" y="2092057"/>
                    <a:pt x="1105426" y="2084437"/>
                  </a:cubicBezTo>
                  <a:cubicBezTo>
                    <a:pt x="1105426" y="2076817"/>
                    <a:pt x="1113046" y="2074277"/>
                    <a:pt x="1118126" y="2071737"/>
                  </a:cubicBezTo>
                  <a:cubicBezTo>
                    <a:pt x="1121936" y="2069197"/>
                    <a:pt x="1127016" y="2069197"/>
                    <a:pt x="1132096" y="2067927"/>
                  </a:cubicBezTo>
                  <a:cubicBezTo>
                    <a:pt x="1134636" y="2067927"/>
                    <a:pt x="1135906" y="2066657"/>
                    <a:pt x="1138446" y="2066657"/>
                  </a:cubicBezTo>
                  <a:cubicBezTo>
                    <a:pt x="1140986" y="2066657"/>
                    <a:pt x="1143526" y="2066657"/>
                    <a:pt x="1144796" y="2064117"/>
                  </a:cubicBezTo>
                  <a:cubicBezTo>
                    <a:pt x="1146066" y="2062847"/>
                    <a:pt x="1147336" y="2062847"/>
                    <a:pt x="1148606" y="2061577"/>
                  </a:cubicBezTo>
                  <a:cubicBezTo>
                    <a:pt x="1151146" y="2060307"/>
                    <a:pt x="1153686" y="2059037"/>
                    <a:pt x="1154956" y="2057767"/>
                  </a:cubicBezTo>
                  <a:lnTo>
                    <a:pt x="1162576" y="2057767"/>
                  </a:lnTo>
                  <a:cubicBezTo>
                    <a:pt x="1167656" y="2060307"/>
                    <a:pt x="1171466" y="2062847"/>
                    <a:pt x="1175276" y="2064117"/>
                  </a:cubicBezTo>
                  <a:cubicBezTo>
                    <a:pt x="1175276" y="2064117"/>
                    <a:pt x="1176546" y="2062847"/>
                    <a:pt x="1177816" y="2062847"/>
                  </a:cubicBezTo>
                  <a:cubicBezTo>
                    <a:pt x="1175276" y="2061577"/>
                    <a:pt x="1174006" y="2060307"/>
                    <a:pt x="1171466" y="2059037"/>
                  </a:cubicBezTo>
                  <a:cubicBezTo>
                    <a:pt x="1171466" y="2056497"/>
                    <a:pt x="1171466" y="2055227"/>
                    <a:pt x="1172736" y="2052687"/>
                  </a:cubicBezTo>
                  <a:cubicBezTo>
                    <a:pt x="1175276" y="2053957"/>
                    <a:pt x="1179086" y="2055227"/>
                    <a:pt x="1177816" y="2050147"/>
                  </a:cubicBezTo>
                  <a:lnTo>
                    <a:pt x="1179086" y="2048877"/>
                  </a:lnTo>
                  <a:cubicBezTo>
                    <a:pt x="1181626" y="2046337"/>
                    <a:pt x="1184166" y="2043797"/>
                    <a:pt x="1187976" y="2045067"/>
                  </a:cubicBezTo>
                  <a:cubicBezTo>
                    <a:pt x="1187976" y="2045067"/>
                    <a:pt x="1189246" y="2043797"/>
                    <a:pt x="1190516" y="2043797"/>
                  </a:cubicBezTo>
                  <a:lnTo>
                    <a:pt x="1198136" y="2047607"/>
                  </a:lnTo>
                  <a:cubicBezTo>
                    <a:pt x="1198136" y="2046337"/>
                    <a:pt x="1198136" y="2045067"/>
                    <a:pt x="1196866" y="2045067"/>
                  </a:cubicBezTo>
                  <a:lnTo>
                    <a:pt x="1198136" y="2045067"/>
                  </a:lnTo>
                  <a:cubicBezTo>
                    <a:pt x="1199406" y="2046337"/>
                    <a:pt x="1200676" y="2046337"/>
                    <a:pt x="1203216" y="2047607"/>
                  </a:cubicBezTo>
                  <a:cubicBezTo>
                    <a:pt x="1203216" y="2045067"/>
                    <a:pt x="1209566" y="2041257"/>
                    <a:pt x="1210836" y="2042527"/>
                  </a:cubicBezTo>
                  <a:lnTo>
                    <a:pt x="1212106" y="2042527"/>
                  </a:lnTo>
                  <a:cubicBezTo>
                    <a:pt x="1213376" y="2046337"/>
                    <a:pt x="1215916" y="2048877"/>
                    <a:pt x="1217186" y="2052687"/>
                  </a:cubicBezTo>
                  <a:cubicBezTo>
                    <a:pt x="1219726" y="2051417"/>
                    <a:pt x="1222266" y="2048877"/>
                    <a:pt x="1224806" y="2047607"/>
                  </a:cubicBezTo>
                  <a:cubicBezTo>
                    <a:pt x="1226076" y="2050147"/>
                    <a:pt x="1226076" y="2052687"/>
                    <a:pt x="1227346" y="2056497"/>
                  </a:cubicBezTo>
                  <a:cubicBezTo>
                    <a:pt x="1229886" y="2053957"/>
                    <a:pt x="1231156" y="2052687"/>
                    <a:pt x="1231156" y="2051417"/>
                  </a:cubicBezTo>
                  <a:cubicBezTo>
                    <a:pt x="1234966" y="2052687"/>
                    <a:pt x="1238776" y="2052687"/>
                    <a:pt x="1241316" y="2053957"/>
                  </a:cubicBezTo>
                  <a:cubicBezTo>
                    <a:pt x="1245126" y="2056497"/>
                    <a:pt x="1248936" y="2056497"/>
                    <a:pt x="1252746" y="2055227"/>
                  </a:cubicBezTo>
                  <a:cubicBezTo>
                    <a:pt x="1255286" y="2053957"/>
                    <a:pt x="1256556" y="2052687"/>
                    <a:pt x="1259096" y="2051417"/>
                  </a:cubicBezTo>
                  <a:cubicBezTo>
                    <a:pt x="1260366" y="2053957"/>
                    <a:pt x="1261636" y="2055227"/>
                    <a:pt x="1264176" y="2056497"/>
                  </a:cubicBezTo>
                  <a:cubicBezTo>
                    <a:pt x="1262906" y="2056497"/>
                    <a:pt x="1261636" y="2057767"/>
                    <a:pt x="1260366" y="2057767"/>
                  </a:cubicBezTo>
                  <a:cubicBezTo>
                    <a:pt x="1257826" y="2059037"/>
                    <a:pt x="1256556" y="2060307"/>
                    <a:pt x="1255286" y="2062847"/>
                  </a:cubicBezTo>
                  <a:cubicBezTo>
                    <a:pt x="1254016" y="2065387"/>
                    <a:pt x="1254016" y="2067927"/>
                    <a:pt x="1251476" y="2069197"/>
                  </a:cubicBezTo>
                  <a:cubicBezTo>
                    <a:pt x="1248936" y="2070467"/>
                    <a:pt x="1248936" y="2067927"/>
                    <a:pt x="1246396" y="2067927"/>
                  </a:cubicBezTo>
                  <a:cubicBezTo>
                    <a:pt x="1248936" y="2066657"/>
                    <a:pt x="1250206" y="2066657"/>
                    <a:pt x="1251476" y="2066657"/>
                  </a:cubicBezTo>
                  <a:lnTo>
                    <a:pt x="1251476" y="2064117"/>
                  </a:lnTo>
                  <a:cubicBezTo>
                    <a:pt x="1243856" y="2066657"/>
                    <a:pt x="1236236" y="2062847"/>
                    <a:pt x="1227346" y="2064117"/>
                  </a:cubicBezTo>
                  <a:cubicBezTo>
                    <a:pt x="1232426" y="2066657"/>
                    <a:pt x="1237506" y="2067927"/>
                    <a:pt x="1242586" y="2069197"/>
                  </a:cubicBezTo>
                  <a:lnTo>
                    <a:pt x="1240046" y="2071737"/>
                  </a:lnTo>
                  <a:cubicBezTo>
                    <a:pt x="1242586" y="2073007"/>
                    <a:pt x="1245126" y="2073007"/>
                    <a:pt x="1247666" y="2073007"/>
                  </a:cubicBezTo>
                  <a:lnTo>
                    <a:pt x="1247666" y="2074277"/>
                  </a:lnTo>
                  <a:cubicBezTo>
                    <a:pt x="1245126" y="2074277"/>
                    <a:pt x="1243856" y="2075547"/>
                    <a:pt x="1241316" y="2075547"/>
                  </a:cubicBezTo>
                  <a:lnTo>
                    <a:pt x="1241316" y="2076817"/>
                  </a:lnTo>
                  <a:lnTo>
                    <a:pt x="1252746" y="2076817"/>
                  </a:lnTo>
                  <a:cubicBezTo>
                    <a:pt x="1255286" y="2070467"/>
                    <a:pt x="1262906" y="2073007"/>
                    <a:pt x="1266716" y="2069197"/>
                  </a:cubicBezTo>
                  <a:lnTo>
                    <a:pt x="1269256" y="2069197"/>
                  </a:lnTo>
                  <a:lnTo>
                    <a:pt x="1265446" y="2073007"/>
                  </a:lnTo>
                  <a:cubicBezTo>
                    <a:pt x="1266716" y="2074277"/>
                    <a:pt x="1267986" y="2074277"/>
                    <a:pt x="1269256" y="2075547"/>
                  </a:cubicBezTo>
                  <a:cubicBezTo>
                    <a:pt x="1270526" y="2076817"/>
                    <a:pt x="1271796" y="2076817"/>
                    <a:pt x="1273066" y="2078087"/>
                  </a:cubicBezTo>
                  <a:cubicBezTo>
                    <a:pt x="1275606" y="2076817"/>
                    <a:pt x="1276876" y="2076817"/>
                    <a:pt x="1279416" y="2075547"/>
                  </a:cubicBezTo>
                  <a:cubicBezTo>
                    <a:pt x="1278146" y="2078087"/>
                    <a:pt x="1278146" y="2079357"/>
                    <a:pt x="1278146" y="2080627"/>
                  </a:cubicBezTo>
                  <a:lnTo>
                    <a:pt x="1284496" y="2080627"/>
                  </a:lnTo>
                  <a:lnTo>
                    <a:pt x="1284496" y="2076817"/>
                  </a:lnTo>
                  <a:cubicBezTo>
                    <a:pt x="1284496" y="2073007"/>
                    <a:pt x="1287036" y="2073007"/>
                    <a:pt x="1289576" y="2074277"/>
                  </a:cubicBezTo>
                  <a:cubicBezTo>
                    <a:pt x="1293386" y="2076817"/>
                    <a:pt x="1295926" y="2075547"/>
                    <a:pt x="1299736" y="2074277"/>
                  </a:cubicBezTo>
                  <a:cubicBezTo>
                    <a:pt x="1303546" y="2074277"/>
                    <a:pt x="1306086" y="2071737"/>
                    <a:pt x="1307356" y="2067927"/>
                  </a:cubicBezTo>
                  <a:lnTo>
                    <a:pt x="1302276" y="2067927"/>
                  </a:lnTo>
                  <a:cubicBezTo>
                    <a:pt x="1302276" y="2066657"/>
                    <a:pt x="1303546" y="2065387"/>
                    <a:pt x="1303546" y="2064117"/>
                  </a:cubicBezTo>
                  <a:lnTo>
                    <a:pt x="1303546" y="2059037"/>
                  </a:lnTo>
                  <a:lnTo>
                    <a:pt x="1304816" y="2059037"/>
                  </a:lnTo>
                  <a:cubicBezTo>
                    <a:pt x="1304816" y="2061577"/>
                    <a:pt x="1306086" y="2062847"/>
                    <a:pt x="1306086" y="2065387"/>
                  </a:cubicBezTo>
                  <a:cubicBezTo>
                    <a:pt x="1308626" y="2064117"/>
                    <a:pt x="1312436" y="2064117"/>
                    <a:pt x="1316246" y="2062847"/>
                  </a:cubicBezTo>
                  <a:lnTo>
                    <a:pt x="1316246" y="2066657"/>
                  </a:lnTo>
                  <a:cubicBezTo>
                    <a:pt x="1320056" y="2067927"/>
                    <a:pt x="1323866" y="2070467"/>
                    <a:pt x="1326406" y="2075547"/>
                  </a:cubicBezTo>
                  <a:cubicBezTo>
                    <a:pt x="1326406" y="2075547"/>
                    <a:pt x="1327676" y="2076817"/>
                    <a:pt x="1327676" y="2075547"/>
                  </a:cubicBezTo>
                  <a:lnTo>
                    <a:pt x="1339106" y="2071737"/>
                  </a:lnTo>
                  <a:cubicBezTo>
                    <a:pt x="1344186" y="2070467"/>
                    <a:pt x="1347996" y="2069197"/>
                    <a:pt x="1353076" y="2067927"/>
                  </a:cubicBezTo>
                  <a:cubicBezTo>
                    <a:pt x="1355616" y="2067927"/>
                    <a:pt x="1356886" y="2070467"/>
                    <a:pt x="1360696" y="2073007"/>
                  </a:cubicBezTo>
                  <a:cubicBezTo>
                    <a:pt x="1364506" y="2073007"/>
                    <a:pt x="1377206" y="2075547"/>
                    <a:pt x="1382286" y="2079357"/>
                  </a:cubicBezTo>
                  <a:cubicBezTo>
                    <a:pt x="1383556" y="2080627"/>
                    <a:pt x="1386096" y="2079357"/>
                    <a:pt x="1387366" y="2079357"/>
                  </a:cubicBezTo>
                  <a:cubicBezTo>
                    <a:pt x="1391176" y="2078087"/>
                    <a:pt x="1394986" y="2078087"/>
                    <a:pt x="1398796" y="2076817"/>
                  </a:cubicBezTo>
                  <a:lnTo>
                    <a:pt x="1400066" y="2078087"/>
                  </a:lnTo>
                  <a:cubicBezTo>
                    <a:pt x="1401336" y="2080627"/>
                    <a:pt x="1401336" y="2083167"/>
                    <a:pt x="1401336" y="2085707"/>
                  </a:cubicBezTo>
                  <a:cubicBezTo>
                    <a:pt x="1405146" y="2089517"/>
                    <a:pt x="1408956" y="2093327"/>
                    <a:pt x="1414036" y="2086977"/>
                  </a:cubicBezTo>
                  <a:cubicBezTo>
                    <a:pt x="1414036" y="2088247"/>
                    <a:pt x="1412766" y="2089517"/>
                    <a:pt x="1412766" y="2090787"/>
                  </a:cubicBezTo>
                  <a:cubicBezTo>
                    <a:pt x="1414036" y="2090787"/>
                    <a:pt x="1414036" y="2092057"/>
                    <a:pt x="1415306" y="2092057"/>
                  </a:cubicBezTo>
                  <a:cubicBezTo>
                    <a:pt x="1417846" y="2093327"/>
                    <a:pt x="1425466" y="2094597"/>
                    <a:pt x="1426736" y="2092057"/>
                  </a:cubicBezTo>
                  <a:cubicBezTo>
                    <a:pt x="1428006" y="2088247"/>
                    <a:pt x="1430546" y="2089517"/>
                    <a:pt x="1431816" y="2089517"/>
                  </a:cubicBezTo>
                  <a:cubicBezTo>
                    <a:pt x="1433086" y="2090787"/>
                    <a:pt x="1433086" y="2093327"/>
                    <a:pt x="1434356" y="2095867"/>
                  </a:cubicBezTo>
                  <a:lnTo>
                    <a:pt x="1434356" y="2086977"/>
                  </a:lnTo>
                  <a:cubicBezTo>
                    <a:pt x="1436896" y="2089517"/>
                    <a:pt x="1438166" y="2090787"/>
                    <a:pt x="1439436" y="2093327"/>
                  </a:cubicBezTo>
                  <a:cubicBezTo>
                    <a:pt x="1440706" y="2094597"/>
                    <a:pt x="1440706" y="2095867"/>
                    <a:pt x="1440706" y="2097137"/>
                  </a:cubicBezTo>
                  <a:cubicBezTo>
                    <a:pt x="1439436" y="2097137"/>
                    <a:pt x="1438166" y="2097137"/>
                    <a:pt x="1436896" y="2098407"/>
                  </a:cubicBezTo>
                  <a:lnTo>
                    <a:pt x="1433086" y="2098407"/>
                  </a:lnTo>
                  <a:cubicBezTo>
                    <a:pt x="1436896" y="2100947"/>
                    <a:pt x="1435626" y="2107297"/>
                    <a:pt x="1440706" y="2104757"/>
                  </a:cubicBezTo>
                  <a:cubicBezTo>
                    <a:pt x="1441976" y="2103487"/>
                    <a:pt x="1443246" y="2100947"/>
                    <a:pt x="1444516" y="2099677"/>
                  </a:cubicBezTo>
                  <a:cubicBezTo>
                    <a:pt x="1444516" y="2100947"/>
                    <a:pt x="1445786" y="2103487"/>
                    <a:pt x="1445786" y="2104757"/>
                  </a:cubicBezTo>
                  <a:cubicBezTo>
                    <a:pt x="1447056" y="2104757"/>
                    <a:pt x="1448326" y="2104757"/>
                    <a:pt x="1449596" y="2106027"/>
                  </a:cubicBezTo>
                  <a:cubicBezTo>
                    <a:pt x="1452136" y="2109837"/>
                    <a:pt x="1455946" y="2108567"/>
                    <a:pt x="1459756" y="2109837"/>
                  </a:cubicBezTo>
                  <a:cubicBezTo>
                    <a:pt x="1462296" y="2109837"/>
                    <a:pt x="1463566" y="2112377"/>
                    <a:pt x="1464836" y="2113647"/>
                  </a:cubicBezTo>
                  <a:cubicBezTo>
                    <a:pt x="1466106" y="2116187"/>
                    <a:pt x="1467376" y="2118727"/>
                    <a:pt x="1471186" y="2118727"/>
                  </a:cubicBezTo>
                  <a:cubicBezTo>
                    <a:pt x="1473726" y="2118727"/>
                    <a:pt x="1476266" y="2121267"/>
                    <a:pt x="1478806" y="2123807"/>
                  </a:cubicBezTo>
                  <a:cubicBezTo>
                    <a:pt x="1482616" y="2126347"/>
                    <a:pt x="1486426" y="2131427"/>
                    <a:pt x="1490236" y="2133967"/>
                  </a:cubicBezTo>
                  <a:cubicBezTo>
                    <a:pt x="1496586" y="2137777"/>
                    <a:pt x="1502936" y="2142857"/>
                    <a:pt x="1510556" y="2141587"/>
                  </a:cubicBezTo>
                  <a:cubicBezTo>
                    <a:pt x="1514366" y="2141587"/>
                    <a:pt x="1518176" y="2144127"/>
                    <a:pt x="1521986" y="2144127"/>
                  </a:cubicBezTo>
                  <a:cubicBezTo>
                    <a:pt x="1525796" y="2144127"/>
                    <a:pt x="1530876" y="2144127"/>
                    <a:pt x="1535956" y="2142857"/>
                  </a:cubicBezTo>
                  <a:cubicBezTo>
                    <a:pt x="1535956" y="2146667"/>
                    <a:pt x="1535956" y="2147937"/>
                    <a:pt x="1539766" y="2147937"/>
                  </a:cubicBezTo>
                  <a:cubicBezTo>
                    <a:pt x="1542306" y="2147937"/>
                    <a:pt x="1544846" y="2147937"/>
                    <a:pt x="1547386" y="2149207"/>
                  </a:cubicBezTo>
                  <a:cubicBezTo>
                    <a:pt x="1555006" y="2149207"/>
                    <a:pt x="1561356" y="2153017"/>
                    <a:pt x="1568976" y="2151747"/>
                  </a:cubicBezTo>
                  <a:cubicBezTo>
                    <a:pt x="1571516" y="2151747"/>
                    <a:pt x="1574056" y="2153017"/>
                    <a:pt x="1576596" y="2154287"/>
                  </a:cubicBezTo>
                  <a:cubicBezTo>
                    <a:pt x="1584216" y="2156827"/>
                    <a:pt x="1589296" y="2163177"/>
                    <a:pt x="1598186" y="2161907"/>
                  </a:cubicBezTo>
                  <a:cubicBezTo>
                    <a:pt x="1599456" y="2161907"/>
                    <a:pt x="1601996" y="2161907"/>
                    <a:pt x="1603266" y="2163177"/>
                  </a:cubicBezTo>
                  <a:cubicBezTo>
                    <a:pt x="1605806" y="2165717"/>
                    <a:pt x="1607076" y="2164447"/>
                    <a:pt x="1608346" y="2163177"/>
                  </a:cubicBezTo>
                  <a:cubicBezTo>
                    <a:pt x="1610886" y="2161907"/>
                    <a:pt x="1613426" y="2160637"/>
                    <a:pt x="1614696" y="2161907"/>
                  </a:cubicBezTo>
                  <a:cubicBezTo>
                    <a:pt x="1619776" y="2163177"/>
                    <a:pt x="1626126" y="2164447"/>
                    <a:pt x="1631206" y="2165717"/>
                  </a:cubicBezTo>
                  <a:lnTo>
                    <a:pt x="1636286" y="2165717"/>
                  </a:lnTo>
                  <a:cubicBezTo>
                    <a:pt x="1640096" y="2164447"/>
                    <a:pt x="1645176" y="2163177"/>
                    <a:pt x="1648986" y="2163177"/>
                  </a:cubicBezTo>
                  <a:cubicBezTo>
                    <a:pt x="1655336" y="2161907"/>
                    <a:pt x="1661686" y="2161907"/>
                    <a:pt x="1668036" y="2161907"/>
                  </a:cubicBezTo>
                  <a:lnTo>
                    <a:pt x="1670576" y="2161907"/>
                  </a:lnTo>
                  <a:cubicBezTo>
                    <a:pt x="1679466" y="2159367"/>
                    <a:pt x="1689626" y="2156827"/>
                    <a:pt x="1698516" y="2154287"/>
                  </a:cubicBezTo>
                  <a:cubicBezTo>
                    <a:pt x="1704866" y="2153017"/>
                    <a:pt x="1711216" y="2151747"/>
                    <a:pt x="1718836" y="2150477"/>
                  </a:cubicBezTo>
                  <a:cubicBezTo>
                    <a:pt x="1726456" y="2149207"/>
                    <a:pt x="1732806" y="2146667"/>
                    <a:pt x="1740426" y="2145397"/>
                  </a:cubicBezTo>
                  <a:cubicBezTo>
                    <a:pt x="1742966" y="2145397"/>
                    <a:pt x="1745506" y="2145397"/>
                    <a:pt x="1749316" y="2144127"/>
                  </a:cubicBezTo>
                  <a:cubicBezTo>
                    <a:pt x="1759476" y="2142857"/>
                    <a:pt x="1769636" y="2139047"/>
                    <a:pt x="1779796" y="2144127"/>
                  </a:cubicBezTo>
                  <a:lnTo>
                    <a:pt x="1795036" y="2147937"/>
                  </a:lnTo>
                  <a:cubicBezTo>
                    <a:pt x="1801386" y="2149207"/>
                    <a:pt x="1806466" y="2153017"/>
                    <a:pt x="1812816" y="2153017"/>
                  </a:cubicBezTo>
                  <a:cubicBezTo>
                    <a:pt x="1814086" y="2153017"/>
                    <a:pt x="1816626" y="2154287"/>
                    <a:pt x="1817896" y="2154287"/>
                  </a:cubicBezTo>
                  <a:cubicBezTo>
                    <a:pt x="1825516" y="2156827"/>
                    <a:pt x="1831866" y="2163177"/>
                    <a:pt x="1840756" y="2160637"/>
                  </a:cubicBezTo>
                  <a:cubicBezTo>
                    <a:pt x="1844566" y="2159367"/>
                    <a:pt x="1850916" y="2161907"/>
                    <a:pt x="1854726" y="2163177"/>
                  </a:cubicBezTo>
                  <a:cubicBezTo>
                    <a:pt x="1858536" y="2164447"/>
                    <a:pt x="1862346" y="2164447"/>
                    <a:pt x="1866156" y="2165717"/>
                  </a:cubicBezTo>
                  <a:lnTo>
                    <a:pt x="1866156" y="2168257"/>
                  </a:lnTo>
                  <a:cubicBezTo>
                    <a:pt x="1873776" y="2168257"/>
                    <a:pt x="1881396" y="2169527"/>
                    <a:pt x="1889016" y="2165717"/>
                  </a:cubicBezTo>
                  <a:cubicBezTo>
                    <a:pt x="1891556" y="2164447"/>
                    <a:pt x="1892826" y="2163177"/>
                    <a:pt x="1895366" y="2163177"/>
                  </a:cubicBezTo>
                  <a:cubicBezTo>
                    <a:pt x="1900446" y="2161907"/>
                    <a:pt x="1906796" y="2161907"/>
                    <a:pt x="1911876" y="2164447"/>
                  </a:cubicBezTo>
                  <a:cubicBezTo>
                    <a:pt x="1915686" y="2165717"/>
                    <a:pt x="1922036" y="2164447"/>
                    <a:pt x="1925846" y="2161907"/>
                  </a:cubicBezTo>
                  <a:cubicBezTo>
                    <a:pt x="1930926" y="2159367"/>
                    <a:pt x="1937276" y="2160637"/>
                    <a:pt x="1942356" y="2160637"/>
                  </a:cubicBezTo>
                  <a:cubicBezTo>
                    <a:pt x="1947436" y="2160637"/>
                    <a:pt x="1951246" y="2161907"/>
                    <a:pt x="1956326" y="2160637"/>
                  </a:cubicBezTo>
                  <a:cubicBezTo>
                    <a:pt x="1967756" y="2159367"/>
                    <a:pt x="1977916" y="2155557"/>
                    <a:pt x="1990616" y="2156827"/>
                  </a:cubicBezTo>
                  <a:cubicBezTo>
                    <a:pt x="1995696" y="2156827"/>
                    <a:pt x="2000776" y="2158097"/>
                    <a:pt x="2005856" y="2156827"/>
                  </a:cubicBezTo>
                  <a:cubicBezTo>
                    <a:pt x="2016016" y="2155557"/>
                    <a:pt x="2023636" y="2159367"/>
                    <a:pt x="2031256" y="2164447"/>
                  </a:cubicBezTo>
                  <a:cubicBezTo>
                    <a:pt x="2037606" y="2169527"/>
                    <a:pt x="2045226" y="2173337"/>
                    <a:pt x="2052846" y="2177147"/>
                  </a:cubicBezTo>
                  <a:cubicBezTo>
                    <a:pt x="2057926" y="2179687"/>
                    <a:pt x="2065546" y="2174607"/>
                    <a:pt x="2065546" y="2168257"/>
                  </a:cubicBezTo>
                  <a:lnTo>
                    <a:pt x="2065546" y="2156827"/>
                  </a:lnTo>
                  <a:cubicBezTo>
                    <a:pt x="2065546" y="2123807"/>
                    <a:pt x="2065546" y="2092057"/>
                    <a:pt x="2066816" y="2059037"/>
                  </a:cubicBezTo>
                  <a:cubicBezTo>
                    <a:pt x="2066816" y="2036177"/>
                    <a:pt x="2068086" y="2013317"/>
                    <a:pt x="2068086" y="1989187"/>
                  </a:cubicBezTo>
                  <a:cubicBezTo>
                    <a:pt x="2068086" y="1963787"/>
                    <a:pt x="2066816" y="446137"/>
                    <a:pt x="2066816" y="420737"/>
                  </a:cubicBezTo>
                  <a:cubicBezTo>
                    <a:pt x="2074436" y="409307"/>
                    <a:pt x="2071896" y="400417"/>
                    <a:pt x="2078246" y="394067"/>
                  </a:cubicBezTo>
                  <a:close/>
                  <a:moveTo>
                    <a:pt x="1256556" y="2051417"/>
                  </a:moveTo>
                  <a:cubicBezTo>
                    <a:pt x="1259096" y="2045067"/>
                    <a:pt x="1264176" y="2046337"/>
                    <a:pt x="1267986" y="2047607"/>
                  </a:cubicBezTo>
                  <a:cubicBezTo>
                    <a:pt x="1265446" y="2052687"/>
                    <a:pt x="1260366" y="2050147"/>
                    <a:pt x="1256556" y="2051417"/>
                  </a:cubicBezTo>
                  <a:close/>
                  <a:moveTo>
                    <a:pt x="1267986" y="2057767"/>
                  </a:moveTo>
                  <a:cubicBezTo>
                    <a:pt x="1269256" y="2055227"/>
                    <a:pt x="1269256" y="2051417"/>
                    <a:pt x="1273066" y="2051417"/>
                  </a:cubicBezTo>
                  <a:cubicBezTo>
                    <a:pt x="1274336" y="2051417"/>
                    <a:pt x="1276876" y="2052687"/>
                    <a:pt x="1278146" y="2052687"/>
                  </a:cubicBezTo>
                  <a:cubicBezTo>
                    <a:pt x="1276876" y="2055227"/>
                    <a:pt x="1275606" y="2056497"/>
                    <a:pt x="1274336" y="2059037"/>
                  </a:cubicBezTo>
                  <a:cubicBezTo>
                    <a:pt x="1273066" y="2059037"/>
                    <a:pt x="1270526" y="2059037"/>
                    <a:pt x="1267986" y="2057767"/>
                  </a:cubicBezTo>
                  <a:close/>
                  <a:moveTo>
                    <a:pt x="1273066" y="2070467"/>
                  </a:moveTo>
                  <a:cubicBezTo>
                    <a:pt x="1275606" y="2069197"/>
                    <a:pt x="1276876" y="2066657"/>
                    <a:pt x="1279416" y="2065387"/>
                  </a:cubicBezTo>
                  <a:cubicBezTo>
                    <a:pt x="1280686" y="2065387"/>
                    <a:pt x="1281956" y="2066657"/>
                    <a:pt x="1283226" y="2066657"/>
                  </a:cubicBezTo>
                  <a:cubicBezTo>
                    <a:pt x="1283226" y="2071737"/>
                    <a:pt x="1278146" y="2073007"/>
                    <a:pt x="1273066" y="2070467"/>
                  </a:cubicBezTo>
                  <a:close/>
                  <a:moveTo>
                    <a:pt x="1278146" y="2029827"/>
                  </a:moveTo>
                  <a:cubicBezTo>
                    <a:pt x="1279416" y="2031097"/>
                    <a:pt x="1279416" y="2032367"/>
                    <a:pt x="1281956" y="2033637"/>
                  </a:cubicBezTo>
                  <a:lnTo>
                    <a:pt x="1270526" y="2033637"/>
                  </a:lnTo>
                  <a:cubicBezTo>
                    <a:pt x="1270526" y="2032367"/>
                    <a:pt x="1270526" y="2031097"/>
                    <a:pt x="1271796" y="2029827"/>
                  </a:cubicBezTo>
                  <a:cubicBezTo>
                    <a:pt x="1276876" y="2029827"/>
                    <a:pt x="1278146" y="2029827"/>
                    <a:pt x="1278146" y="2024747"/>
                  </a:cubicBezTo>
                  <a:cubicBezTo>
                    <a:pt x="1281956" y="2026017"/>
                    <a:pt x="1287036" y="2022207"/>
                    <a:pt x="1288306" y="2028557"/>
                  </a:cubicBezTo>
                  <a:cubicBezTo>
                    <a:pt x="1284496" y="2029827"/>
                    <a:pt x="1281956" y="2029827"/>
                    <a:pt x="1278146" y="2029827"/>
                  </a:cubicBezTo>
                  <a:close/>
                </a:path>
              </a:pathLst>
            </a:custGeom>
            <a:blipFill>
              <a:blip r:embed="rId5"/>
              <a:stretch>
                <a:fillRect l="-14208" t="0" r="-7329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38766" y="2964439"/>
            <a:ext cx="4213556" cy="360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Formulou a Máquina Universal, demonstrando que um único dispositivo pode simular qualquer algoritmo e definindo os limites teóricos do que é computável.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07803" y="280661"/>
            <a:ext cx="8705974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TRANSIÇÃO ELETROMECÂNICA E A LÓGICA BOOLEANA: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69017" y="249800"/>
            <a:ext cx="1855237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Alan Turing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527647" y="1502404"/>
            <a:ext cx="7781071" cy="4233818"/>
          </a:xfrm>
          <a:custGeom>
            <a:avLst/>
            <a:gdLst/>
            <a:ahLst/>
            <a:cxnLst/>
            <a:rect r="r" b="b" t="t" l="l"/>
            <a:pathLst>
              <a:path h="4233818" w="7781071">
                <a:moveTo>
                  <a:pt x="0" y="0"/>
                </a:moveTo>
                <a:lnTo>
                  <a:pt x="7781071" y="0"/>
                </a:lnTo>
                <a:lnTo>
                  <a:pt x="7781071" y="4233818"/>
                </a:lnTo>
                <a:lnTo>
                  <a:pt x="0" y="4233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23850" y="4241181"/>
            <a:ext cx="6273245" cy="4704934"/>
          </a:xfrm>
          <a:custGeom>
            <a:avLst/>
            <a:gdLst/>
            <a:ahLst/>
            <a:cxnLst/>
            <a:rect r="r" b="b" t="t" l="l"/>
            <a:pathLst>
              <a:path h="4704934" w="6273245">
                <a:moveTo>
                  <a:pt x="0" y="0"/>
                </a:moveTo>
                <a:lnTo>
                  <a:pt x="6273245" y="0"/>
                </a:lnTo>
                <a:lnTo>
                  <a:pt x="6273245" y="4704934"/>
                </a:lnTo>
                <a:lnTo>
                  <a:pt x="0" y="4704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503184"/>
            <a:ext cx="5623622" cy="309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7"/>
              </a:lnSpc>
            </a:pPr>
            <a:r>
              <a:rPr lang="en-US" sz="2962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Marcada pelo uso de válvulas e exemplificada pelo ENIAC, possibilitou a computação em larga escala ao realizar cálculos complexos de forma muito mais rápida que métodos manuais.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45544" y="249800"/>
            <a:ext cx="6928254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 NASCIMENTO DA ARQUITETURA MODERNA: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3850" y="218940"/>
            <a:ext cx="121525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Válvulas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473798" y="3327149"/>
            <a:ext cx="4169304" cy="3976474"/>
          </a:xfrm>
          <a:custGeom>
            <a:avLst/>
            <a:gdLst/>
            <a:ahLst/>
            <a:cxnLst/>
            <a:rect r="r" b="b" t="t" l="l"/>
            <a:pathLst>
              <a:path h="3976474" w="4169304">
                <a:moveTo>
                  <a:pt x="0" y="0"/>
                </a:moveTo>
                <a:lnTo>
                  <a:pt x="4169304" y="0"/>
                </a:lnTo>
                <a:lnTo>
                  <a:pt x="4169304" y="3976474"/>
                </a:lnTo>
                <a:lnTo>
                  <a:pt x="0" y="3976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5729" y="3854205"/>
            <a:ext cx="6892413" cy="28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Arquitetura de Von Neumann estabeleceu o conceito de programa armazenado na memória, mas introduziu o gargalo de desempenho causado pelo compartilhamento do mesmo caminho entre dados e instruções.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45544" y="249800"/>
            <a:ext cx="6928254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 NASCIMENTO DA ARQUITETURA MODERNA: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3850" y="218940"/>
            <a:ext cx="472329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Arquitetura de Von Neumann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724262" y="5499482"/>
            <a:ext cx="10765210" cy="3056581"/>
          </a:xfrm>
          <a:custGeom>
            <a:avLst/>
            <a:gdLst/>
            <a:ahLst/>
            <a:cxnLst/>
            <a:rect r="r" b="b" t="t" l="l"/>
            <a:pathLst>
              <a:path h="3056581" w="10765210">
                <a:moveTo>
                  <a:pt x="0" y="0"/>
                </a:moveTo>
                <a:lnTo>
                  <a:pt x="10765210" y="0"/>
                </a:lnTo>
                <a:lnTo>
                  <a:pt x="10765210" y="3056581"/>
                </a:lnTo>
                <a:lnTo>
                  <a:pt x="0" y="3056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441605"/>
            <a:ext cx="10921912" cy="95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Define a separação física entre memória de dados e de instruções, permitindo maior desempenho e paralelismo no processamento.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45544" y="249800"/>
            <a:ext cx="6928254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 NASCIMENTO DA ARQUITETURA MODERNA: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3850" y="218940"/>
            <a:ext cx="3902263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Arquitetura de Harvard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655609" y="3353847"/>
            <a:ext cx="8603691" cy="3923078"/>
          </a:xfrm>
          <a:custGeom>
            <a:avLst/>
            <a:gdLst/>
            <a:ahLst/>
            <a:cxnLst/>
            <a:rect r="r" b="b" t="t" l="l"/>
            <a:pathLst>
              <a:path h="3923078" w="8603691">
                <a:moveTo>
                  <a:pt x="0" y="0"/>
                </a:moveTo>
                <a:lnTo>
                  <a:pt x="8603691" y="0"/>
                </a:lnTo>
                <a:lnTo>
                  <a:pt x="8603691" y="3923078"/>
                </a:lnTo>
                <a:lnTo>
                  <a:pt x="0" y="3923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55" r="0" b="-55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0348" y="3920502"/>
            <a:ext cx="6086513" cy="23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Adoção de transistores no lugar das válvulas, trouxe maior confiabilidade, menor consumo de energia e redução de tamanho, impulsionando a evolução da computação.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18782" y="218940"/>
            <a:ext cx="740506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REVOLUÇÃO DO SILÍCIO E A MINIATURIZAÇÃO: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3850" y="218940"/>
            <a:ext cx="1768999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Transistores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557133" y="2160271"/>
            <a:ext cx="7981883" cy="5966458"/>
          </a:xfrm>
          <a:custGeom>
            <a:avLst/>
            <a:gdLst/>
            <a:ahLst/>
            <a:cxnLst/>
            <a:rect r="r" b="b" t="t" l="l"/>
            <a:pathLst>
              <a:path h="5966458" w="7981883">
                <a:moveTo>
                  <a:pt x="0" y="0"/>
                </a:moveTo>
                <a:lnTo>
                  <a:pt x="7981883" y="0"/>
                </a:lnTo>
                <a:lnTo>
                  <a:pt x="7981883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4407" y="4158685"/>
            <a:ext cx="5256910" cy="190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Viabilizou o aumento exponencial do desempenho e da miniaturização, consolidado pela Lei de Moore.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18782" y="218940"/>
            <a:ext cx="740506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REVOLUÇÃO DO SILÍCIO E A MINIATURIZAÇÃO: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3850" y="218940"/>
            <a:ext cx="3096363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Circuitos Integrados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693853" y="2647664"/>
            <a:ext cx="8011176" cy="5335443"/>
          </a:xfrm>
          <a:custGeom>
            <a:avLst/>
            <a:gdLst/>
            <a:ahLst/>
            <a:cxnLst/>
            <a:rect r="r" b="b" t="t" l="l"/>
            <a:pathLst>
              <a:path h="5335443" w="8011176">
                <a:moveTo>
                  <a:pt x="0" y="0"/>
                </a:moveTo>
                <a:lnTo>
                  <a:pt x="8011175" y="0"/>
                </a:lnTo>
                <a:lnTo>
                  <a:pt x="8011175" y="5335443"/>
                </a:lnTo>
                <a:lnTo>
                  <a:pt x="0" y="5335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9595" y="3958329"/>
            <a:ext cx="5256910" cy="285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Consolidou a padronização da ISA ao permitir compatibilidade entre diferentes máquinas, revolucionando o desenvolvimento e a portabilidade de softwares.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18782" y="218940"/>
            <a:ext cx="740506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REVOLUÇÃO DO SILÍCIO E A MINIATURIZAÇÃO: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3850" y="218940"/>
            <a:ext cx="3096363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IBM System/360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27184" y="1615738"/>
            <a:ext cx="5413164" cy="5214681"/>
          </a:xfrm>
          <a:custGeom>
            <a:avLst/>
            <a:gdLst/>
            <a:ahLst/>
            <a:cxnLst/>
            <a:rect r="r" b="b" t="t" l="l"/>
            <a:pathLst>
              <a:path h="5214681" w="5413164">
                <a:moveTo>
                  <a:pt x="0" y="0"/>
                </a:moveTo>
                <a:lnTo>
                  <a:pt x="5413164" y="0"/>
                </a:lnTo>
                <a:lnTo>
                  <a:pt x="5413164" y="5214681"/>
                </a:lnTo>
                <a:lnTo>
                  <a:pt x="0" y="5214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92799" y="6224797"/>
            <a:ext cx="7192251" cy="2891285"/>
          </a:xfrm>
          <a:custGeom>
            <a:avLst/>
            <a:gdLst/>
            <a:ahLst/>
            <a:cxnLst/>
            <a:rect r="r" b="b" t="t" l="l"/>
            <a:pathLst>
              <a:path h="2891285" w="7192251">
                <a:moveTo>
                  <a:pt x="0" y="0"/>
                </a:moveTo>
                <a:lnTo>
                  <a:pt x="7192251" y="0"/>
                </a:lnTo>
                <a:lnTo>
                  <a:pt x="7192251" y="2891285"/>
                </a:lnTo>
                <a:lnTo>
                  <a:pt x="0" y="28912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9595" y="3958329"/>
            <a:ext cx="5256910" cy="190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Marcou a história ao integrar as funções de um computador em um único chip, dando início à era dos microprocessadores.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0102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79394" y="218940"/>
            <a:ext cx="3096363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Intel 4004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437075" y="2271399"/>
            <a:ext cx="5643140" cy="5925297"/>
          </a:xfrm>
          <a:custGeom>
            <a:avLst/>
            <a:gdLst/>
            <a:ahLst/>
            <a:cxnLst/>
            <a:rect r="r" b="b" t="t" l="l"/>
            <a:pathLst>
              <a:path h="5925297" w="5643140">
                <a:moveTo>
                  <a:pt x="0" y="0"/>
                </a:moveTo>
                <a:lnTo>
                  <a:pt x="5643140" y="0"/>
                </a:lnTo>
                <a:lnTo>
                  <a:pt x="5643140" y="5925297"/>
                </a:lnTo>
                <a:lnTo>
                  <a:pt x="0" y="592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477" y="2536153"/>
            <a:ext cx="8762523" cy="618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ascensão dos Zilog Z80 e MOS 6502 foi decisiva para a computação pessoal porque representaram duas abordagens complementares: </a:t>
            </a:r>
          </a:p>
          <a:p>
            <a:pPr algn="just" marL="588052" indent="-294026" lvl="1">
              <a:lnSpc>
                <a:spcPts val="3813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Z80 ganhou destaque por sua </a:t>
            </a:r>
            <a:r>
              <a:rPr lang="en-US" b="true" sz="2723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compatibilidade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com o 8080 e forte integração com o sistema CP/M, criando um amplo ecossistema de software e aplicações comerciais.</a:t>
            </a:r>
          </a:p>
          <a:p>
            <a:pPr algn="just" marL="588052" indent="-294026" lvl="1">
              <a:lnSpc>
                <a:spcPts val="3813"/>
              </a:lnSpc>
              <a:buFont typeface="Arial"/>
              <a:buChar char="•"/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nquanto o M6502 revolucionou o mercado ao </a:t>
            </a:r>
            <a:r>
              <a:rPr lang="en-US" b="true" sz="2723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reduzir drasticamente os custos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— chegando a custar uma fração dos concorrentes —, o que impulsionou a produção em massa de computadores domésticos e consoles e acelerou a popularização da informática nos anos 1980.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50102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9394" y="218940"/>
            <a:ext cx="200602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Zilog e MOS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220144" y="1300430"/>
            <a:ext cx="7067856" cy="4913342"/>
          </a:xfrm>
          <a:custGeom>
            <a:avLst/>
            <a:gdLst/>
            <a:ahLst/>
            <a:cxnLst/>
            <a:rect r="r" b="b" t="t" l="l"/>
            <a:pathLst>
              <a:path h="4913342" w="7067856">
                <a:moveTo>
                  <a:pt x="0" y="0"/>
                </a:moveTo>
                <a:lnTo>
                  <a:pt x="7067856" y="0"/>
                </a:lnTo>
                <a:lnTo>
                  <a:pt x="7067856" y="4913342"/>
                </a:lnTo>
                <a:lnTo>
                  <a:pt x="0" y="4913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477" y="2536153"/>
            <a:ext cx="8762523" cy="237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Seymour Cray revolucionou a supercomputação ao projetar o CDC 6600, 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ns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id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er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ad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 o primeiro supercomputador, e posteriormente o Cray-1, q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u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int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u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ziu a arquitetura vetorial para processamento extremamente rápido de grandes volumes de dados.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50102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9394" y="188079"/>
            <a:ext cx="219565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Seymour Cray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73138" y="4914896"/>
            <a:ext cx="5464181" cy="4512927"/>
            <a:chOff x="0" y="0"/>
            <a:chExt cx="7285574" cy="60172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85574" cy="6017236"/>
            </a:xfrm>
            <a:custGeom>
              <a:avLst/>
              <a:gdLst/>
              <a:ahLst/>
              <a:cxnLst/>
              <a:rect r="r" b="b" t="t" l="l"/>
              <a:pathLst>
                <a:path h="6017236" w="7285574">
                  <a:moveTo>
                    <a:pt x="0" y="0"/>
                  </a:moveTo>
                  <a:lnTo>
                    <a:pt x="7285574" y="0"/>
                  </a:lnTo>
                  <a:lnTo>
                    <a:pt x="7285574" y="6017236"/>
                  </a:lnTo>
                  <a:lnTo>
                    <a:pt x="0" y="6017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5485877"/>
              <a:ext cx="1225868" cy="5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475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Cray-1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682442" y="5782699"/>
            <a:ext cx="1605558" cy="43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CDC 6600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328764" y="2174423"/>
            <a:ext cx="11301259" cy="3701162"/>
          </a:xfrm>
          <a:custGeom>
            <a:avLst/>
            <a:gdLst/>
            <a:ahLst/>
            <a:cxnLst/>
            <a:rect r="r" b="b" t="t" l="l"/>
            <a:pathLst>
              <a:path h="3701162" w="11301259">
                <a:moveTo>
                  <a:pt x="0" y="0"/>
                </a:moveTo>
                <a:lnTo>
                  <a:pt x="11301259" y="0"/>
                </a:lnTo>
                <a:lnTo>
                  <a:pt x="11301259" y="3701162"/>
                </a:lnTo>
                <a:lnTo>
                  <a:pt x="0" y="3701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8883" y="6256393"/>
            <a:ext cx="8288464" cy="237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Marcou a transição da computação para o uso doméstico e empresarial, 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nsol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idada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pela padronização dos PCs e pela diversidade de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sistem</a:t>
            </a:r>
            <a:r>
              <a:rPr lang="en-US" sz="272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as europeus e japoneses que ampliaram sua adoção global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50102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9394" y="188079"/>
            <a:ext cx="3262284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Computador pessoal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89428" y="2979833"/>
            <a:ext cx="8301840" cy="4327334"/>
          </a:xfrm>
          <a:custGeom>
            <a:avLst/>
            <a:gdLst/>
            <a:ahLst/>
            <a:cxnLst/>
            <a:rect r="r" b="b" t="t" l="l"/>
            <a:pathLst>
              <a:path h="4327334" w="8301840">
                <a:moveTo>
                  <a:pt x="0" y="0"/>
                </a:moveTo>
                <a:lnTo>
                  <a:pt x="8301840" y="0"/>
                </a:lnTo>
                <a:lnTo>
                  <a:pt x="8301840" y="4327334"/>
                </a:lnTo>
                <a:lnTo>
                  <a:pt x="0" y="4327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624954"/>
            <a:ext cx="6270363" cy="332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3"/>
              </a:lnSpc>
            </a:pP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Embora RISC oferecesse maior eficiência técnica, o CISC — impulsionado pela Intel — prevaleceu graças à </a:t>
            </a: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compatibi</a:t>
            </a: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</a:t>
            </a: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idad</a:t>
            </a: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 com softwares existentes da Intel, economia de escala e</a:t>
            </a: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investimentos m</a:t>
            </a:r>
            <a:r>
              <a:rPr lang="en-US" sz="271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assivos em pesquisa e desenvolvimento.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50102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9394" y="188079"/>
            <a:ext cx="3546719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Guerra das Arquiteturas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276422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605565" y="2261572"/>
            <a:ext cx="7325491" cy="6107628"/>
          </a:xfrm>
          <a:custGeom>
            <a:avLst/>
            <a:gdLst/>
            <a:ahLst/>
            <a:cxnLst/>
            <a:rect r="r" b="b" t="t" l="l"/>
            <a:pathLst>
              <a:path h="6107628" w="7325491">
                <a:moveTo>
                  <a:pt x="0" y="0"/>
                </a:moveTo>
                <a:lnTo>
                  <a:pt x="7325491" y="0"/>
                </a:lnTo>
                <a:lnTo>
                  <a:pt x="7325491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2649" y="2778937"/>
            <a:ext cx="8611351" cy="434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Marcou uma virada ao executar internamente instruções </a:t>
            </a: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comp</a:t>
            </a: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lex</a:t>
            </a: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as</a:t>
            </a: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como operações simples e reordenáveis, explorando paralelismo e previsão para aumentar</a:t>
            </a: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significativamente </a:t>
            </a: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 desempenho real.</a:t>
            </a:r>
          </a:p>
          <a:p>
            <a:pPr algn="l" marL="487390" indent="-243695" lvl="1">
              <a:lnSpc>
                <a:spcPts val="3160"/>
              </a:lnSpc>
              <a:buFont typeface="Arial"/>
              <a:buChar char="•"/>
            </a:pP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P6, introduzida com o Pentium Pro, foi uma das primeiras arquiteturas x86 a explorar intensivamente execução dinâmica para extrair desempenho além da simples frequência de clock.</a:t>
            </a:r>
          </a:p>
          <a:p>
            <a:pPr algn="just" marL="487390" indent="-243695" lvl="1">
              <a:lnSpc>
                <a:spcPts val="3160"/>
              </a:lnSpc>
              <a:buFont typeface="Arial"/>
              <a:buChar char="•"/>
            </a:pPr>
            <a:r>
              <a:rPr lang="en-US" sz="225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Além disso, incorporava execução especulativa, baseada em predição de desvios, permitindo que o processador “antecipasse” caminhos de execução e mantivesse o pipeline ocupado.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50102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9394" y="188079"/>
            <a:ext cx="3546719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Microarquitetura P6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4779280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161952" y="4560794"/>
            <a:ext cx="5964095" cy="4031770"/>
          </a:xfrm>
          <a:custGeom>
            <a:avLst/>
            <a:gdLst/>
            <a:ahLst/>
            <a:cxnLst/>
            <a:rect r="r" b="b" t="t" l="l"/>
            <a:pathLst>
              <a:path h="4031770" w="5964095">
                <a:moveTo>
                  <a:pt x="0" y="0"/>
                </a:moveTo>
                <a:lnTo>
                  <a:pt x="5964096" y="0"/>
                </a:lnTo>
                <a:lnTo>
                  <a:pt x="5964096" y="4031770"/>
                </a:lnTo>
                <a:lnTo>
                  <a:pt x="0" y="4031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75308" y="2393632"/>
            <a:ext cx="8937383" cy="155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6152" indent="-243076" lvl="1">
              <a:lnSpc>
                <a:spcPts val="3152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popularização dos kits multimídia — com CD-ROM e placas como a Sound Blaster — impulsionou a demanda por maior largura de banda nos barramentos, transformando o PC em uma plataforma capaz de lidar com áudio e vídeo.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534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2826" y="188079"/>
            <a:ext cx="5279906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Revolução Multimídia e Windows 95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4779280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833284" y="4293491"/>
            <a:ext cx="4621433" cy="4635353"/>
          </a:xfrm>
          <a:custGeom>
            <a:avLst/>
            <a:gdLst/>
            <a:ahLst/>
            <a:cxnLst/>
            <a:rect r="r" b="b" t="t" l="l"/>
            <a:pathLst>
              <a:path h="4635353" w="4621433">
                <a:moveTo>
                  <a:pt x="0" y="0"/>
                </a:moveTo>
                <a:lnTo>
                  <a:pt x="4621432" y="0"/>
                </a:lnTo>
                <a:lnTo>
                  <a:pt x="4621432" y="4635353"/>
                </a:lnTo>
                <a:lnTo>
                  <a:pt x="0" y="46353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75308" y="2393632"/>
            <a:ext cx="8937383" cy="116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6152" indent="-243076" lvl="1">
              <a:lnSpc>
                <a:spcPts val="3152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MMX introduziu operações vetoriais simples no processador, acelerando tarefas de multimídia como áudio, vídeo e gráficos ao otimizar o processamento de sinais digitais.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534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2826" y="188079"/>
            <a:ext cx="5279906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Revolução Multimídia e Windows 95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4779280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293418" y="3851202"/>
            <a:ext cx="7701163" cy="4888327"/>
          </a:xfrm>
          <a:custGeom>
            <a:avLst/>
            <a:gdLst/>
            <a:ahLst/>
            <a:cxnLst/>
            <a:rect r="r" b="b" t="t" l="l"/>
            <a:pathLst>
              <a:path h="4888327" w="7701163">
                <a:moveTo>
                  <a:pt x="0" y="0"/>
                </a:moveTo>
                <a:lnTo>
                  <a:pt x="7701164" y="0"/>
                </a:lnTo>
                <a:lnTo>
                  <a:pt x="7701164" y="4888327"/>
                </a:lnTo>
                <a:lnTo>
                  <a:pt x="0" y="4888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75308" y="1762027"/>
            <a:ext cx="8937383" cy="77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6152" indent="-243076" lvl="1">
              <a:lnSpc>
                <a:spcPts val="3152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Consolidou o uso de 32 bits no ambiente doméstico, popularizou o Plug and Play e padronizou APIs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534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2826" y="188079"/>
            <a:ext cx="5279906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Revolução Multimídia e Windows 95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3120116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52967" y="5143500"/>
            <a:ext cx="4911970" cy="3862721"/>
          </a:xfrm>
          <a:custGeom>
            <a:avLst/>
            <a:gdLst/>
            <a:ahLst/>
            <a:cxnLst/>
            <a:rect r="r" b="b" t="t" l="l"/>
            <a:pathLst>
              <a:path h="3862721" w="4911970">
                <a:moveTo>
                  <a:pt x="0" y="0"/>
                </a:moveTo>
                <a:lnTo>
                  <a:pt x="4911970" y="0"/>
                </a:lnTo>
                <a:lnTo>
                  <a:pt x="4911970" y="3862721"/>
                </a:lnTo>
                <a:lnTo>
                  <a:pt x="0" y="38627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92686" y="5143500"/>
            <a:ext cx="4495045" cy="3353011"/>
          </a:xfrm>
          <a:custGeom>
            <a:avLst/>
            <a:gdLst/>
            <a:ahLst/>
            <a:cxnLst/>
            <a:rect r="r" b="b" t="t" l="l"/>
            <a:pathLst>
              <a:path h="3353011" w="4495045">
                <a:moveTo>
                  <a:pt x="0" y="0"/>
                </a:moveTo>
                <a:lnTo>
                  <a:pt x="4495045" y="0"/>
                </a:lnTo>
                <a:lnTo>
                  <a:pt x="4495045" y="3353011"/>
                </a:lnTo>
                <a:lnTo>
                  <a:pt x="0" y="33530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80625" y="6820005"/>
            <a:ext cx="5673250" cy="2363854"/>
          </a:xfrm>
          <a:custGeom>
            <a:avLst/>
            <a:gdLst/>
            <a:ahLst/>
            <a:cxnLst/>
            <a:rect r="r" b="b" t="t" l="l"/>
            <a:pathLst>
              <a:path h="2363854" w="5673250">
                <a:moveTo>
                  <a:pt x="0" y="0"/>
                </a:moveTo>
                <a:lnTo>
                  <a:pt x="5673251" y="0"/>
                </a:lnTo>
                <a:lnTo>
                  <a:pt x="5673251" y="2363855"/>
                </a:lnTo>
                <a:lnTo>
                  <a:pt x="0" y="2363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207" y="2685867"/>
            <a:ext cx="7133491" cy="22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1989" indent="-275995" lvl="1">
              <a:lnSpc>
                <a:spcPts val="3579"/>
              </a:lnSpc>
              <a:buFont typeface="Arial"/>
              <a:buChar char="•"/>
            </a:pPr>
            <a:r>
              <a:rPr lang="en-US" sz="255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renderização gráfica passou a ser realizada por componentes especializados, reduzindo a carga do processador principal e elevando drasticamente o desempenho em aplicações visuais.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83534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2826" y="188079"/>
            <a:ext cx="3004424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Placas Aceleradoras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2685867"/>
            <a:ext cx="8397167" cy="222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1989" indent="-275995" lvl="1">
              <a:lnSpc>
                <a:spcPts val="3579"/>
              </a:lnSpc>
              <a:buFont typeface="Arial"/>
              <a:buChar char="•"/>
            </a:pPr>
            <a:r>
              <a:rPr lang="en-US" sz="255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popularização de soluções como a 3dfx Voodoo e o avanço da NVIDIA consolidaram um novo padrão de processamento gráfico, impulsionado por interfaces como DirectX e OpenGL que padronizaram o desenvolvimento de API e seu uso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830043" y="2644391"/>
            <a:ext cx="7893088" cy="5351514"/>
          </a:xfrm>
          <a:custGeom>
            <a:avLst/>
            <a:gdLst/>
            <a:ahLst/>
            <a:cxnLst/>
            <a:rect r="r" b="b" t="t" l="l"/>
            <a:pathLst>
              <a:path h="5351514" w="7893088">
                <a:moveTo>
                  <a:pt x="0" y="0"/>
                </a:moveTo>
                <a:lnTo>
                  <a:pt x="7893088" y="0"/>
                </a:lnTo>
                <a:lnTo>
                  <a:pt x="7893088" y="5351514"/>
                </a:lnTo>
                <a:lnTo>
                  <a:pt x="0" y="5351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3204" y="3561482"/>
            <a:ext cx="7773470" cy="311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1989" indent="-275995" lvl="1">
              <a:lnSpc>
                <a:spcPts val="3579"/>
              </a:lnSpc>
              <a:buFont typeface="Arial"/>
              <a:buChar char="•"/>
            </a:pPr>
            <a:r>
              <a:rPr lang="en-US" sz="255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 surgimento das memória cache trouxe uma solução para a diferença de velocidade entre CPU e memória principal</a:t>
            </a:r>
          </a:p>
          <a:p>
            <a:pPr algn="just" marL="551989" indent="-275995" lvl="1">
              <a:lnSpc>
                <a:spcPts val="3579"/>
              </a:lnSpc>
              <a:buFont typeface="Arial"/>
              <a:buChar char="•"/>
            </a:pPr>
            <a:r>
              <a:rPr lang="en-US" sz="255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Já a SDRAM introduziu sincronização com o clock do sistema, aumentando a taxa de transferência e melhorando significativamente o desempenho em aplicações mais exigentes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534" y="218940"/>
            <a:ext cx="8329292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 ERA DO MICROPROCESSADOR E A EXPLOSÃO DO PC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2826" y="188079"/>
            <a:ext cx="192752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Barramentos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627452" y="2852620"/>
            <a:ext cx="6613993" cy="4935056"/>
          </a:xfrm>
          <a:custGeom>
            <a:avLst/>
            <a:gdLst/>
            <a:ahLst/>
            <a:cxnLst/>
            <a:rect r="r" b="b" t="t" l="l"/>
            <a:pathLst>
              <a:path h="4935056" w="6613993">
                <a:moveTo>
                  <a:pt x="0" y="0"/>
                </a:moveTo>
                <a:lnTo>
                  <a:pt x="6613993" y="0"/>
                </a:lnTo>
                <a:lnTo>
                  <a:pt x="6613993" y="4935056"/>
                </a:lnTo>
                <a:lnTo>
                  <a:pt x="0" y="4935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1258" y="3580126"/>
            <a:ext cx="6025071" cy="342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96"/>
              </a:lnSpc>
            </a:pPr>
            <a:r>
              <a:rPr lang="en-US" sz="328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Representou a descentralização do processamento, permitindo que múltiplas máquinas compartilhassem recursos e tarefas de forma mais escalável, interativa e eficiente.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0405" y="234232"/>
            <a:ext cx="636194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INTERNET, MOBILIDADE E PARALELISMO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2353" y="203371"/>
            <a:ext cx="370524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Computação em Rede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59027" y="2118746"/>
            <a:ext cx="6055237" cy="6055237"/>
          </a:xfrm>
          <a:custGeom>
            <a:avLst/>
            <a:gdLst/>
            <a:ahLst/>
            <a:cxnLst/>
            <a:rect r="r" b="b" t="t" l="l"/>
            <a:pathLst>
              <a:path h="6055237" w="6055237">
                <a:moveTo>
                  <a:pt x="0" y="0"/>
                </a:moveTo>
                <a:lnTo>
                  <a:pt x="6055237" y="0"/>
                </a:lnTo>
                <a:lnTo>
                  <a:pt x="6055237" y="6055237"/>
                </a:lnTo>
                <a:lnTo>
                  <a:pt x="0" y="605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5358" y="3832758"/>
            <a:ext cx="8338642" cy="256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Surgiu quando aumentar a velocidade de clock deixou de ser viável - fim do ganho de frequência - levando a indústria a melhorar o desempenho distribuindo tarefas simultaneamente entre vários núcleos - aposta no paralelismo.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0405" y="234232"/>
            <a:ext cx="636194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INTERNET, MOBILIDADE E PARALELISMO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2353" y="203371"/>
            <a:ext cx="370524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Processamento Multicore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32805" y="1982652"/>
            <a:ext cx="7559928" cy="5847636"/>
          </a:xfrm>
          <a:custGeom>
            <a:avLst/>
            <a:gdLst/>
            <a:ahLst/>
            <a:cxnLst/>
            <a:rect r="r" b="b" t="t" l="l"/>
            <a:pathLst>
              <a:path h="5847636" w="7559928">
                <a:moveTo>
                  <a:pt x="0" y="0"/>
                </a:moveTo>
                <a:lnTo>
                  <a:pt x="7559927" y="0"/>
                </a:lnTo>
                <a:lnTo>
                  <a:pt x="7559927" y="5847637"/>
                </a:lnTo>
                <a:lnTo>
                  <a:pt x="0" y="5847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3140" y="4004855"/>
            <a:ext cx="8338642" cy="256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As GPUs evoluíram de renderização visual para executar tarefas </a:t>
            </a:r>
            <a:r>
              <a:rPr lang="en-US" sz="2933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altamente paralelizáveis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, tornando-se essenciais em áreas como simulações científicas e inteligência artificial por meio do uso de GPGPU.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0405" y="234232"/>
            <a:ext cx="636194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INTERNET, MOBILIDADE E PARALELISMO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2353" y="203371"/>
            <a:ext cx="370524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GPUs e GPGPU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339000" y="5143500"/>
            <a:ext cx="11772806" cy="3517126"/>
          </a:xfrm>
          <a:custGeom>
            <a:avLst/>
            <a:gdLst/>
            <a:ahLst/>
            <a:cxnLst/>
            <a:rect r="r" b="b" t="t" l="l"/>
            <a:pathLst>
              <a:path h="3517126" w="11772806">
                <a:moveTo>
                  <a:pt x="0" y="0"/>
                </a:moveTo>
                <a:lnTo>
                  <a:pt x="11772807" y="0"/>
                </a:lnTo>
                <a:lnTo>
                  <a:pt x="11772807" y="3517126"/>
                </a:lnTo>
                <a:lnTo>
                  <a:pt x="0" y="3517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2032" y="2579589"/>
            <a:ext cx="13323843" cy="153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Serviços como Computação em Nuvem e técnicas como Virtualização permitem executar aplicações em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am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bi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ente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re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motos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is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olados, ocultando a infraestrutura física do usuário e </a:t>
            </a:r>
            <a:r>
              <a:rPr lang="en-US" sz="2933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oferecendo recursos sob demanda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9254" y="203371"/>
            <a:ext cx="489137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 ESTADO DA ARTE E O FUTURO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0632" y="172510"/>
            <a:ext cx="3705242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Abstração do hardware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277863"/>
            <a:ext cx="8854110" cy="4980437"/>
          </a:xfrm>
          <a:custGeom>
            <a:avLst/>
            <a:gdLst/>
            <a:ahLst/>
            <a:cxnLst/>
            <a:rect r="r" b="b" t="t" l="l"/>
            <a:pathLst>
              <a:path h="4980437" w="8854110">
                <a:moveTo>
                  <a:pt x="0" y="0"/>
                </a:moveTo>
                <a:lnTo>
                  <a:pt x="8854110" y="0"/>
                </a:lnTo>
                <a:lnTo>
                  <a:pt x="8854110" y="4980437"/>
                </a:lnTo>
                <a:lnTo>
                  <a:pt x="0" y="49804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2032" y="2579589"/>
            <a:ext cx="13323843" cy="102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07"/>
              </a:lnSpc>
            </a:pP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Criados para executar modelos de aprendizado de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máqu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na c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om altíssima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eficiênci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a, superando soluções de propósito geral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ta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fa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 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cífic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</a:t>
            </a:r>
            <a:r>
              <a:rPr lang="en-US" sz="293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19254" y="203371"/>
            <a:ext cx="489137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 ESTADO DA ARTE E O FUTURO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0632" y="172510"/>
            <a:ext cx="446248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Processadores Especializados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0348" y="7479102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9"/>
                </a:lnTo>
                <a:lnTo>
                  <a:pt x="0" y="544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4489369" y="-1757519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9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9" y="5449148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761887" y="957530"/>
            <a:ext cx="11911233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9453" y="2987549"/>
            <a:ext cx="5876800" cy="5239250"/>
            <a:chOff x="0" y="0"/>
            <a:chExt cx="7835733" cy="69856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261325"/>
              <a:ext cx="7835733" cy="4724341"/>
            </a:xfrm>
            <a:custGeom>
              <a:avLst/>
              <a:gdLst/>
              <a:ahLst/>
              <a:cxnLst/>
              <a:rect r="r" b="b" t="t" l="l"/>
              <a:pathLst>
                <a:path h="4724341" w="7835733">
                  <a:moveTo>
                    <a:pt x="0" y="0"/>
                  </a:moveTo>
                  <a:lnTo>
                    <a:pt x="7835733" y="0"/>
                  </a:lnTo>
                  <a:lnTo>
                    <a:pt x="7835733" y="4724341"/>
                  </a:lnTo>
                  <a:lnTo>
                    <a:pt x="0" y="4724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186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835733" cy="1933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0"/>
                </a:lnSpc>
              </a:pP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 RISC-V permite criar processadores personalizados se</a:t>
              </a: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m cu</a:t>
              </a: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stos d</a:t>
              </a: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e licenç</a:t>
              </a: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a, incentivando inovação e flexibilidade no desenvolvimento de ha</a:t>
              </a: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rdw</a:t>
              </a:r>
              <a:r>
                <a:rPr lang="en-US" sz="209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are.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84504" y="2987549"/>
            <a:ext cx="5529120" cy="5239250"/>
            <a:chOff x="0" y="0"/>
            <a:chExt cx="7372160" cy="69856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190023"/>
              <a:ext cx="7372160" cy="4795643"/>
            </a:xfrm>
            <a:custGeom>
              <a:avLst/>
              <a:gdLst/>
              <a:ahLst/>
              <a:cxnLst/>
              <a:rect r="r" b="b" t="t" l="l"/>
              <a:pathLst>
                <a:path h="4795643" w="7372160">
                  <a:moveTo>
                    <a:pt x="0" y="0"/>
                  </a:moveTo>
                  <a:lnTo>
                    <a:pt x="7372160" y="0"/>
                  </a:lnTo>
                  <a:lnTo>
                    <a:pt x="7372160" y="4795643"/>
                  </a:lnTo>
                  <a:lnTo>
                    <a:pt x="0" y="4795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67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372160" cy="190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20"/>
                </a:lnSpc>
                <a:spcBef>
                  <a:spcPct val="0"/>
                </a:spcBef>
              </a:pPr>
              <a:r>
                <a:rPr lang="en-US" sz="2086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 Computação Quântica utiliza princípios da física quântica para resolver certos problemas complexos muito mais rapidamente que computadores tradicionais.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19254" y="203371"/>
            <a:ext cx="4891378" cy="39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 ESTADO DA ARTE E O FUTURO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39926" y="9616091"/>
            <a:ext cx="680814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MATHEUS </a:t>
            </a:r>
            <a:r>
              <a:rPr lang="en-US" b="true" sz="20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DEYVISSON </a:t>
            </a:r>
            <a:r>
              <a:rPr lang="en-US" sz="20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DE OLIVEIRA MORENO PINTO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0632" y="172510"/>
            <a:ext cx="4462488" cy="4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252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Arquiteturas Emergentes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441876" y="2975373"/>
            <a:ext cx="5606929" cy="5251425"/>
            <a:chOff x="0" y="0"/>
            <a:chExt cx="7475906" cy="7001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15284" y="2017896"/>
              <a:ext cx="6645338" cy="4984004"/>
            </a:xfrm>
            <a:custGeom>
              <a:avLst/>
              <a:gdLst/>
              <a:ahLst/>
              <a:cxnLst/>
              <a:rect r="r" b="b" t="t" l="l"/>
              <a:pathLst>
                <a:path h="4984004" w="6645338">
                  <a:moveTo>
                    <a:pt x="0" y="0"/>
                  </a:moveTo>
                  <a:lnTo>
                    <a:pt x="6645338" y="0"/>
                  </a:lnTo>
                  <a:lnTo>
                    <a:pt x="6645338" y="4984004"/>
                  </a:lnTo>
                  <a:lnTo>
                    <a:pt x="0" y="4984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7475906" cy="1957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2"/>
                </a:lnSpc>
                <a:spcBef>
                  <a:spcPct val="0"/>
                </a:spcBef>
              </a:pPr>
              <a:r>
                <a:rPr lang="en-US" sz="2101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 Computação Neuromórfica busca imitar o funcionamento do cérebro humano para alcançar maior eficiência em tarefas como aprendizado e reconhecimento de padrões.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1749" y="7562426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0" y="0"/>
                </a:moveTo>
                <a:lnTo>
                  <a:pt x="6704769" y="0"/>
                </a:lnTo>
                <a:lnTo>
                  <a:pt x="6704769" y="5449148"/>
                </a:lnTo>
                <a:lnTo>
                  <a:pt x="0" y="54491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477457" y="-1695874"/>
            <a:ext cx="6704769" cy="5449148"/>
          </a:xfrm>
          <a:custGeom>
            <a:avLst/>
            <a:gdLst/>
            <a:ahLst/>
            <a:cxnLst/>
            <a:rect r="r" b="b" t="t" l="l"/>
            <a:pathLst>
              <a:path h="5449148" w="6704769">
                <a:moveTo>
                  <a:pt x="6704768" y="0"/>
                </a:moveTo>
                <a:lnTo>
                  <a:pt x="0" y="0"/>
                </a:lnTo>
                <a:lnTo>
                  <a:pt x="0" y="5449148"/>
                </a:lnTo>
                <a:lnTo>
                  <a:pt x="6704768" y="5449148"/>
                </a:lnTo>
                <a:lnTo>
                  <a:pt x="67047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58788" y="4238183"/>
            <a:ext cx="6970425" cy="162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8"/>
              </a:lnSpc>
            </a:pPr>
            <a:r>
              <a:rPr lang="en-US" b="true" sz="960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DAHIDv4h_dg</dc:identifier>
  <dcterms:modified xsi:type="dcterms:W3CDTF">2011-08-01T06:04:30Z</dcterms:modified>
  <cp:revision>1</cp:revision>
  <dc:title>Arquitetura de Computadores</dc:title>
</cp:coreProperties>
</file>